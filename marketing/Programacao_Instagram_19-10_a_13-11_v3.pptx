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s blocos" id="{7c0ebc98-4976-eb4f-a7e0-c9b3faaa565c}">
          <p14:sldIdLst>
            <p14:sldId id="256"/>
          </p14:sldIdLst>
        </p14:section>
        <p14:section name="Calendário" id="{7d957b96-103d-b015-da73-8833dde2861a}">
          <p14:sldIdLst>
            <p14:sldId id="257"/>
          </p14:sldIdLst>
        </p14:section>
        <p14:section name="As semanas" id="{51431119-b7c4-b949-f56d-9c824a6e6d4b}">
          <p14:sldIdLst>
            <p14:sldId id="258"/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quatro blocos contam a marca em sequência: quem somos, por que importa, como funciona e por que acreditar. Já publicados antes desta programação: "O que é a FairHealth?" e "Conheça o Escritório do Cuidado". O post do time segue segurado.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Segunda, quarta e sexta; na semana de Finados (02/11), terça, quarta e sexta. As duas falas do Dr. Ronald podem ser gravadas no mesmo dia. Já prontos: o post de 21/10, "Prevenção também é investimento" e o roteiro de 11/11.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validar: Reel do Dr. Ronald: autorização de uso de imagem (exceção à decisão de não ter o time em cena; o post do time segue segurado).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validar: 26/10: conferir o número de licenças por saúde mental de 2024 no painel do Ministério da Previdência. 28/10: o que os estudos da HBR e da SHRM mediram.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validar: 03/11: decidir se a jornada é contada pela Clara (personagem fictícia, sinalizada) ou sem personagem. 06/11: conferir as datas da linha do tempo; "validado no SUS" fica de fora.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validar: 09/11: só números liberados, sem o nome da indústria. 11/11: leitura do estudo pela responsável médica. 13/11: "Diagnóstico" sem "gratuito".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OCOS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ENDARIO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68580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MANA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731520"/>
            <a:ext cx="64008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/>
        </p:nvSpPr>
        <p:spPr>
          <a:xfrm>
            <a:off x="640080" y="6144768"/>
            <a:ext cx="1600200" cy="347472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tx1"/>
                </a:solidFill>
              </a:rPr>
              <a:t>19/10 A 13/11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1415" y="6108192"/>
            <a:ext cx="411480" cy="4114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454335" y="614476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fairhealth</a:t>
            </a:r>
            <a:endParaRPr lang="en-US" sz="1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co 1"/>
          <p:cNvSpPr/>
          <p:nvPr/>
        </p:nvSpPr>
        <p:spPr>
          <a:xfrm>
            <a:off x="0" y="0"/>
            <a:ext cx="3057068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Bloco 2"/>
          <p:cNvSpPr/>
          <p:nvPr/>
        </p:nvSpPr>
        <p:spPr>
          <a:xfrm>
            <a:off x="3047924" y="0"/>
            <a:ext cx="3057068" cy="68580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" name="Bloco 3"/>
          <p:cNvSpPr/>
          <p:nvPr/>
        </p:nvSpPr>
        <p:spPr>
          <a:xfrm>
            <a:off x="6095848" y="0"/>
            <a:ext cx="3057068" cy="6858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Bloco 4"/>
          <p:cNvSpPr/>
          <p:nvPr/>
        </p:nvSpPr>
        <p:spPr>
          <a:xfrm>
            <a:off x="9143771" y="0"/>
            <a:ext cx="3047924" cy="68580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Seta 1"/>
          <p:cNvSpPr/>
          <p:nvPr/>
        </p:nvSpPr>
        <p:spPr>
          <a:xfrm rot="5400000">
            <a:off x="2855900" y="978408"/>
            <a:ext cx="384048" cy="237744"/>
          </a:xfrm>
          <a:prstGeom prst="triangle">
            <a:avLst/>
          </a:prstGeom>
          <a:solidFill>
            <a:schemeClr val="tx1"/>
          </a:solidFill>
          <a:ln/>
        </p:spPr>
      </p:sp>
      <p:sp>
        <p:nvSpPr>
          <p:cNvPr id="7" name="Seta 2"/>
          <p:cNvSpPr/>
          <p:nvPr/>
        </p:nvSpPr>
        <p:spPr>
          <a:xfrm rot="5400000">
            <a:off x="5903824" y="2807208"/>
            <a:ext cx="384048" cy="237744"/>
          </a:xfrm>
          <a:prstGeom prst="triangle">
            <a:avLst/>
          </a:prstGeom>
          <a:solidFill>
            <a:schemeClr val="accent2"/>
          </a:solidFill>
          <a:ln/>
        </p:spPr>
      </p:sp>
      <p:sp>
        <p:nvSpPr>
          <p:cNvPr id="8" name="Seta 3"/>
          <p:cNvSpPr/>
          <p:nvPr/>
        </p:nvSpPr>
        <p:spPr>
          <a:xfrm rot="5400000">
            <a:off x="8951747" y="1801368"/>
            <a:ext cx="384048" cy="237744"/>
          </a:xfrm>
          <a:prstGeom prst="triangle">
            <a:avLst/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11480" y="3246120"/>
            <a:ext cx="23164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dirty="0">
                <a:solidFill>
                  <a:schemeClr val="bg2"/>
                </a:solidFill>
              </a:rPr>
              <a:t>1</a:t>
            </a:r>
            <a:endParaRPr lang="en-US" sz="9600" dirty="0"/>
          </a:p>
        </p:txBody>
      </p:sp>
      <p:sp>
        <p:nvSpPr>
          <p:cNvPr id="10" name="Text 8"/>
          <p:cNvSpPr txBox="1"/>
          <p:nvPr/>
        </p:nvSpPr>
        <p:spPr>
          <a:xfrm>
            <a:off x="411480" y="4617720"/>
            <a:ext cx="23164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Reconhecimento</a:t>
            </a:r>
            <a:endParaRPr lang="en-US" sz="22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500" b="1" dirty="0">
                <a:solidFill>
                  <a:schemeClr val="bg2"/>
                </a:solidFill>
              </a:rPr>
              <a:t>Quem somos e por que existimos?</a:t>
            </a:r>
            <a:endParaRPr lang="en-US" sz="22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400" dirty="0">
                <a:solidFill>
                  <a:schemeClr val="bg2"/>
                </a:solidFill>
              </a:rPr>
              <a:t>Apresentar a marca e criar vínculo com a origem.</a:t>
            </a:r>
            <a:endParaRPr lang="en-US" sz="2200" dirty="0"/>
          </a:p>
          <a:p>
            <a:pPr indent="0" marL="0">
              <a:spcBef>
                <a:spcPts val="1200"/>
              </a:spcBef>
              <a:buNone/>
            </a:pPr>
            <a:r>
              <a:rPr lang="en-US" sz="1100" b="1" spc="100" kern="0" dirty="0">
                <a:solidFill>
                  <a:schemeClr val="bg2"/>
                </a:solidFill>
              </a:rPr>
              <a:t>2 posts · 19 e 21/10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459404" y="502920"/>
            <a:ext cx="23164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dirty="0">
                <a:solidFill>
                  <a:schemeClr val="tx1"/>
                </a:solidFill>
              </a:rPr>
              <a:t>2</a:t>
            </a:r>
            <a:endParaRPr lang="en-US" sz="9600" dirty="0"/>
          </a:p>
        </p:txBody>
      </p:sp>
      <p:sp>
        <p:nvSpPr>
          <p:cNvPr id="12" name="Text 10"/>
          <p:cNvSpPr txBox="1"/>
          <p:nvPr/>
        </p:nvSpPr>
        <p:spPr>
          <a:xfrm>
            <a:off x="3459404" y="1874520"/>
            <a:ext cx="23164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Relevância</a:t>
            </a:r>
            <a:endParaRPr lang="en-US" sz="22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500" b="1" dirty="0">
                <a:solidFill>
                  <a:schemeClr val="tx1"/>
                </a:solidFill>
              </a:rPr>
              <a:t>Por que as empresas precisam olhar para isso?</a:t>
            </a:r>
            <a:endParaRPr lang="en-US" sz="22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400" dirty="0">
                <a:solidFill>
                  <a:schemeClr val="tx1"/>
                </a:solidFill>
              </a:rPr>
              <a:t>Fazer o RH se reconhecer no problema: o cuidado costuma chegar tarde.</a:t>
            </a:r>
            <a:endParaRPr lang="en-US" sz="2200" dirty="0"/>
          </a:p>
          <a:p>
            <a:pPr indent="0" marL="0">
              <a:spcBef>
                <a:spcPts val="1200"/>
              </a:spcBef>
              <a:buNone/>
            </a:pPr>
            <a:r>
              <a:rPr lang="en-US" sz="1100" b="1" spc="100" kern="0" dirty="0">
                <a:solidFill>
                  <a:schemeClr val="tx1"/>
                </a:solidFill>
              </a:rPr>
              <a:t>4 posts · 23 a 30/10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6507328" y="2331720"/>
            <a:ext cx="23164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dirty="0">
                <a:solidFill>
                  <a:schemeClr val="tx2"/>
                </a:solidFill>
              </a:rPr>
              <a:t>3</a:t>
            </a:r>
            <a:endParaRPr lang="en-US" sz="9600" dirty="0"/>
          </a:p>
        </p:txBody>
      </p:sp>
      <p:sp>
        <p:nvSpPr>
          <p:cNvPr id="14" name="Text 12"/>
          <p:cNvSpPr txBox="1"/>
          <p:nvPr/>
        </p:nvSpPr>
        <p:spPr>
          <a:xfrm>
            <a:off x="6507328" y="3703320"/>
            <a:ext cx="23164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Compreensão</a:t>
            </a:r>
            <a:endParaRPr lang="en-US" sz="22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500" b="1" dirty="0">
                <a:solidFill>
                  <a:schemeClr val="tx1"/>
                </a:solidFill>
              </a:rPr>
              <a:t>Como a FairHealth transforma isso em cuidado real?</a:t>
            </a:r>
            <a:endParaRPr lang="en-US" sz="22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400" dirty="0">
                <a:solidFill>
                  <a:schemeClr val="tx1"/>
                </a:solidFill>
              </a:rPr>
              <a:t>Mostrar o cuidado na prática, pela experiência de quem é atendido.</a:t>
            </a:r>
            <a:endParaRPr lang="en-US" sz="2200" dirty="0"/>
          </a:p>
          <a:p>
            <a:pPr indent="0" marL="0">
              <a:spcBef>
                <a:spcPts val="1200"/>
              </a:spcBef>
              <a:buNone/>
            </a:pPr>
            <a:r>
              <a:rPr lang="en-US" sz="1100" b="1" spc="100" kern="0" dirty="0">
                <a:solidFill>
                  <a:schemeClr val="tx1"/>
                </a:solidFill>
              </a:rPr>
              <a:t>2 posts · 03 e 04/11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9555251" y="1325880"/>
            <a:ext cx="23164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dirty="0">
                <a:solidFill>
                  <a:schemeClr val="tx1"/>
                </a:solidFill>
              </a:rPr>
              <a:t>4</a:t>
            </a:r>
            <a:endParaRPr lang="en-US" sz="9600" dirty="0"/>
          </a:p>
        </p:txBody>
      </p:sp>
      <p:sp>
        <p:nvSpPr>
          <p:cNvPr id="16" name="Text 14"/>
          <p:cNvSpPr txBox="1"/>
          <p:nvPr/>
        </p:nvSpPr>
        <p:spPr>
          <a:xfrm>
            <a:off x="9555251" y="2697480"/>
            <a:ext cx="23164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Confiança</a:t>
            </a:r>
            <a:endParaRPr lang="en-US" sz="22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500" b="1" dirty="0">
                <a:solidFill>
                  <a:schemeClr val="tx1"/>
                </a:solidFill>
              </a:rPr>
              <a:t>Por que acreditar na metodologia e na empresa?</a:t>
            </a:r>
            <a:endParaRPr lang="en-US" sz="22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400" dirty="0">
                <a:solidFill>
                  <a:schemeClr val="tx1"/>
                </a:solidFill>
              </a:rPr>
              <a:t>Dar provas e abrir um caminho claro para o RH.</a:t>
            </a:r>
            <a:endParaRPr lang="en-US" sz="2200" dirty="0"/>
          </a:p>
          <a:p>
            <a:pPr indent="0" marL="0">
              <a:spcBef>
                <a:spcPts val="1200"/>
              </a:spcBef>
              <a:buNone/>
            </a:pPr>
            <a:r>
              <a:rPr lang="en-US" sz="1100" b="1" spc="100" kern="0" dirty="0">
                <a:solidFill>
                  <a:schemeClr val="tx1"/>
                </a:solidFill>
              </a:rPr>
              <a:t>4 posts · 06 a 13/11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411480" y="457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</a:rPr>
              <a:t>PROGRAMAÇÃO DO INSTAGRAM</a:t>
            </a:r>
            <a:endParaRPr lang="en-US" sz="1000" dirty="0"/>
          </a:p>
          <a:p>
            <a:pPr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</a:rPr>
              <a:t>19/10 A 13/11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Calendário </a:t>
            </a:r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de conteúdo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19/10 a 13/11  ·  3 posts por semana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086600" y="566928"/>
            <a:ext cx="548640" cy="1828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26680" y="49377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Reel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0" y="566928"/>
            <a:ext cx="548640" cy="18288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326880" y="49377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Carrossel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287000" y="566928"/>
            <a:ext cx="548640" cy="1828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927080" y="49377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Foto única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645920" y="1435608"/>
            <a:ext cx="14150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seg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061019" y="1435608"/>
            <a:ext cx="14150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ter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476119" y="1435608"/>
            <a:ext cx="14150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qua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891218" y="1435608"/>
            <a:ext cx="14150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qui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306317" y="1435608"/>
            <a:ext cx="14150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sex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721417" y="1435608"/>
            <a:ext cx="14150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sáb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136516" y="1435608"/>
            <a:ext cx="14150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dom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645920" y="1783080"/>
            <a:ext cx="9905695" cy="0"/>
          </a:xfrm>
          <a:prstGeom prst="line">
            <a:avLst/>
          </a:prstGeom>
          <a:noFill/>
          <a:ln w="9525">
            <a:solidFill>
              <a:schemeClr val="accent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0" y="2862072"/>
            <a:ext cx="9905695" cy="0"/>
          </a:xfrm>
          <a:prstGeom prst="line">
            <a:avLst/>
          </a:prstGeom>
          <a:noFill/>
          <a:ln w="9525">
            <a:solidFill>
              <a:schemeClr val="accent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0" y="3941064"/>
            <a:ext cx="9905695" cy="0"/>
          </a:xfrm>
          <a:prstGeom prst="line">
            <a:avLst/>
          </a:prstGeom>
          <a:noFill/>
          <a:ln w="9525">
            <a:solidFill>
              <a:schemeClr val="accent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0" y="5020056"/>
            <a:ext cx="9905695" cy="0"/>
          </a:xfrm>
          <a:prstGeom prst="line">
            <a:avLst/>
          </a:prstGeom>
          <a:noFill/>
          <a:ln w="9525">
            <a:solidFill>
              <a:schemeClr val="accent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45920" y="6099048"/>
            <a:ext cx="9905695" cy="0"/>
          </a:xfrm>
          <a:prstGeom prst="line">
            <a:avLst/>
          </a:prstGeom>
          <a:noFill/>
          <a:ln w="9525">
            <a:solidFill>
              <a:schemeClr val="accent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45920" y="1783080"/>
            <a:ext cx="0" cy="4315968"/>
          </a:xfrm>
          <a:prstGeom prst="line">
            <a:avLst/>
          </a:prstGeom>
          <a:noFill/>
          <a:ln w="9525">
            <a:solidFill>
              <a:schemeClr val="accent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61019" y="1783080"/>
            <a:ext cx="0" cy="4315968"/>
          </a:xfrm>
          <a:prstGeom prst="line">
            <a:avLst/>
          </a:prstGeom>
          <a:noFill/>
          <a:ln w="9525">
            <a:solidFill>
              <a:schemeClr val="accent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76119" y="1783080"/>
            <a:ext cx="0" cy="4315968"/>
          </a:xfrm>
          <a:prstGeom prst="line">
            <a:avLst/>
          </a:prstGeom>
          <a:noFill/>
          <a:ln w="9525">
            <a:solidFill>
              <a:schemeClr val="accent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91218" y="1783080"/>
            <a:ext cx="0" cy="4315968"/>
          </a:xfrm>
          <a:prstGeom prst="line">
            <a:avLst/>
          </a:prstGeom>
          <a:noFill/>
          <a:ln w="9525">
            <a:solidFill>
              <a:schemeClr val="accent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06317" y="1783080"/>
            <a:ext cx="0" cy="4315968"/>
          </a:xfrm>
          <a:prstGeom prst="line">
            <a:avLst/>
          </a:prstGeom>
          <a:noFill/>
          <a:ln w="9525">
            <a:solidFill>
              <a:schemeClr val="accent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721417" y="1783080"/>
            <a:ext cx="0" cy="4315968"/>
          </a:xfrm>
          <a:prstGeom prst="line">
            <a:avLst/>
          </a:prstGeom>
          <a:noFill/>
          <a:ln w="9525">
            <a:solidFill>
              <a:schemeClr val="accent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136516" y="1783080"/>
            <a:ext cx="0" cy="4315968"/>
          </a:xfrm>
          <a:prstGeom prst="line">
            <a:avLst/>
          </a:prstGeom>
          <a:noFill/>
          <a:ln w="9525">
            <a:solidFill>
              <a:schemeClr val="accent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551615" y="1783080"/>
            <a:ext cx="0" cy="4315968"/>
          </a:xfrm>
          <a:prstGeom prst="line">
            <a:avLst/>
          </a:prstGeom>
          <a:noFill/>
          <a:ln w="9525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0080" y="2130552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Semana 1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19 a 23/10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709928" y="1828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19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3125027" y="1828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20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540127" y="1828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21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5955226" y="1828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22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7370325" y="1828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23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785425" y="1828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24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10200524" y="1828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25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640080" y="3209544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Semana 2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26 a 30/10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1709928" y="29077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26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3125027" y="29077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27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4540127" y="29077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28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5955226" y="29077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29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7370325" y="29077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30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8785425" y="29077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31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10200524" y="29077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01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640080" y="4288536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Semana 3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03 a 06/11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1709928" y="398678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02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1709928" y="4233672"/>
            <a:ext cx="128708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Finados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3125027" y="398678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03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4540127" y="398678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04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5955226" y="398678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05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7370325" y="398678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06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8785425" y="398678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07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10200524" y="398678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08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640080" y="5367528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Semana 4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09 a 13/11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1709928" y="506577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09</a:t>
            </a:r>
            <a:endParaRPr lang="en-US" sz="1000" dirty="0"/>
          </a:p>
        </p:txBody>
      </p:sp>
      <p:sp>
        <p:nvSpPr>
          <p:cNvPr id="57" name="Text 55"/>
          <p:cNvSpPr txBox="1"/>
          <p:nvPr/>
        </p:nvSpPr>
        <p:spPr>
          <a:xfrm>
            <a:off x="3125027" y="506577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10</a:t>
            </a:r>
            <a:endParaRPr lang="en-US" sz="1000" dirty="0"/>
          </a:p>
        </p:txBody>
      </p:sp>
      <p:sp>
        <p:nvSpPr>
          <p:cNvPr id="58" name="Text 56"/>
          <p:cNvSpPr txBox="1"/>
          <p:nvPr/>
        </p:nvSpPr>
        <p:spPr>
          <a:xfrm>
            <a:off x="4540127" y="506577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11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5955226" y="506577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12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7370325" y="506577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13</a:t>
            </a:r>
            <a:endParaRPr lang="en-US" sz="1000" dirty="0"/>
          </a:p>
        </p:txBody>
      </p:sp>
      <p:sp>
        <p:nvSpPr>
          <p:cNvPr id="61" name="Text 59"/>
          <p:cNvSpPr txBox="1"/>
          <p:nvPr/>
        </p:nvSpPr>
        <p:spPr>
          <a:xfrm>
            <a:off x="8785425" y="506577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14</a:t>
            </a:r>
            <a:endParaRPr lang="en-US" sz="1000" dirty="0"/>
          </a:p>
        </p:txBody>
      </p:sp>
      <p:sp>
        <p:nvSpPr>
          <p:cNvPr id="62" name="Text 60"/>
          <p:cNvSpPr txBox="1"/>
          <p:nvPr/>
        </p:nvSpPr>
        <p:spPr>
          <a:xfrm>
            <a:off x="8785425" y="5312664"/>
            <a:ext cx="128708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Dia Mundial do Diabetes</a:t>
            </a:r>
            <a:endParaRPr lang="en-US" sz="1000" dirty="0"/>
          </a:p>
        </p:txBody>
      </p:sp>
      <p:sp>
        <p:nvSpPr>
          <p:cNvPr id="63" name="Text 61"/>
          <p:cNvSpPr txBox="1"/>
          <p:nvPr/>
        </p:nvSpPr>
        <p:spPr>
          <a:xfrm>
            <a:off x="10200524" y="506577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15</a:t>
            </a:r>
            <a:endParaRPr lang="en-US" sz="1000" dirty="0"/>
          </a:p>
        </p:txBody>
      </p:sp>
      <p:sp>
        <p:nvSpPr>
          <p:cNvPr id="64" name="Text 62"/>
          <p:cNvSpPr txBox="1"/>
          <p:nvPr/>
        </p:nvSpPr>
        <p:spPr>
          <a:xfrm>
            <a:off x="10200524" y="5312664"/>
            <a:ext cx="128708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Proclamação da República</a:t>
            </a:r>
            <a:endParaRPr lang="en-US" sz="1000" dirty="0"/>
          </a:p>
        </p:txBody>
      </p:sp>
      <p:sp>
        <p:nvSpPr>
          <p:cNvPr id="65" name="Post 19/10"/>
          <p:cNvSpPr/>
          <p:nvPr/>
        </p:nvSpPr>
        <p:spPr>
          <a:xfrm>
            <a:off x="1700784" y="2039112"/>
            <a:ext cx="1305371" cy="749808"/>
          </a:xfrm>
          <a:prstGeom prst="roundRect">
            <a:avLst>
              <a:gd name="adj" fmla="val 12195"/>
            </a:avLst>
          </a:prstGeom>
          <a:solidFill>
            <a:schemeClr val="accent1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1773936" y="2039112"/>
            <a:ext cx="115906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Reel do Dr. Ronald: quem somos</a:t>
            </a:r>
            <a:endParaRPr lang="en-US" sz="1100" dirty="0"/>
          </a:p>
        </p:txBody>
      </p:sp>
      <p:sp>
        <p:nvSpPr>
          <p:cNvPr id="67" name="Post 21/10"/>
          <p:cNvSpPr/>
          <p:nvPr/>
        </p:nvSpPr>
        <p:spPr>
          <a:xfrm>
            <a:off x="4530983" y="2039112"/>
            <a:ext cx="1305371" cy="749808"/>
          </a:xfrm>
          <a:prstGeom prst="roundRect">
            <a:avLst>
              <a:gd name="adj" fmla="val 12195"/>
            </a:avLst>
          </a:prstGeom>
          <a:solidFill>
            <a:schemeClr val="tx1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4604135" y="2039112"/>
            <a:ext cx="115906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2"/>
                </a:solidFill>
              </a:rPr>
              <a:t>Por que a FairHealth existe?</a:t>
            </a:r>
            <a:endParaRPr lang="en-US" sz="1100" dirty="0"/>
          </a:p>
        </p:txBody>
      </p:sp>
      <p:sp>
        <p:nvSpPr>
          <p:cNvPr id="69" name="Post 23/10"/>
          <p:cNvSpPr/>
          <p:nvPr/>
        </p:nvSpPr>
        <p:spPr>
          <a:xfrm>
            <a:off x="7361181" y="2039112"/>
            <a:ext cx="1305371" cy="749808"/>
          </a:xfrm>
          <a:prstGeom prst="roundRect">
            <a:avLst>
              <a:gd name="adj" fmla="val 12195"/>
            </a:avLst>
          </a:prstGeom>
          <a:solidFill>
            <a:schemeClr val="tx1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7434333" y="2039112"/>
            <a:ext cx="115906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2"/>
                </a:solidFill>
              </a:rPr>
              <a:t>Cuidar antes, não depois</a:t>
            </a:r>
            <a:endParaRPr lang="en-US" sz="1100" dirty="0"/>
          </a:p>
        </p:txBody>
      </p:sp>
      <p:sp>
        <p:nvSpPr>
          <p:cNvPr id="71" name="Post 26/10"/>
          <p:cNvSpPr/>
          <p:nvPr/>
        </p:nvSpPr>
        <p:spPr>
          <a:xfrm>
            <a:off x="1700784" y="3118104"/>
            <a:ext cx="1305371" cy="749808"/>
          </a:xfrm>
          <a:prstGeom prst="roundRect">
            <a:avLst>
              <a:gd name="adj" fmla="val 12195"/>
            </a:avLst>
          </a:prstGeom>
          <a:solidFill>
            <a:schemeClr val="accent1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1773936" y="3118104"/>
            <a:ext cx="115906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Cuidado fora da rotina</a:t>
            </a:r>
            <a:endParaRPr lang="en-US" sz="1100" dirty="0"/>
          </a:p>
        </p:txBody>
      </p:sp>
      <p:sp>
        <p:nvSpPr>
          <p:cNvPr id="73" name="Post 28/10"/>
          <p:cNvSpPr/>
          <p:nvPr/>
        </p:nvSpPr>
        <p:spPr>
          <a:xfrm>
            <a:off x="4530983" y="3118104"/>
            <a:ext cx="1305371" cy="749808"/>
          </a:xfrm>
          <a:prstGeom prst="roundRect">
            <a:avLst>
              <a:gd name="adj" fmla="val 12195"/>
            </a:avLst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4604135" y="3118104"/>
            <a:ext cx="115906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Prevenção é investimento</a:t>
            </a:r>
            <a:endParaRPr lang="en-US" sz="1100" dirty="0"/>
          </a:p>
        </p:txBody>
      </p:sp>
      <p:sp>
        <p:nvSpPr>
          <p:cNvPr id="75" name="Post 30/10"/>
          <p:cNvSpPr/>
          <p:nvPr/>
        </p:nvSpPr>
        <p:spPr>
          <a:xfrm>
            <a:off x="7361181" y="3118104"/>
            <a:ext cx="1305371" cy="749808"/>
          </a:xfrm>
          <a:prstGeom prst="roundRect">
            <a:avLst>
              <a:gd name="adj" fmla="val 12195"/>
            </a:avLst>
          </a:prstGeom>
          <a:solidFill>
            <a:schemeClr val="tx1"/>
          </a:solidFill>
          <a:ln/>
        </p:spPr>
      </p:sp>
      <p:sp>
        <p:nvSpPr>
          <p:cNvPr id="76" name="Text 74"/>
          <p:cNvSpPr txBox="1"/>
          <p:nvPr/>
        </p:nvSpPr>
        <p:spPr>
          <a:xfrm>
            <a:off x="7434333" y="3118104"/>
            <a:ext cx="115906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2"/>
                </a:solidFill>
              </a:rPr>
              <a:t>Prevenção na rotina da empresa</a:t>
            </a:r>
            <a:endParaRPr lang="en-US" sz="1100" dirty="0"/>
          </a:p>
        </p:txBody>
      </p:sp>
      <p:sp>
        <p:nvSpPr>
          <p:cNvPr id="77" name="Post 03/11"/>
          <p:cNvSpPr/>
          <p:nvPr/>
        </p:nvSpPr>
        <p:spPr>
          <a:xfrm>
            <a:off x="3115883" y="4197096"/>
            <a:ext cx="1305371" cy="749808"/>
          </a:xfrm>
          <a:prstGeom prst="roundRect">
            <a:avLst>
              <a:gd name="adj" fmla="val 12195"/>
            </a:avLst>
          </a:prstGeom>
          <a:solidFill>
            <a:schemeClr val="tx1"/>
          </a:solidFill>
          <a:ln/>
        </p:spPr>
      </p:sp>
      <p:sp>
        <p:nvSpPr>
          <p:cNvPr id="78" name="Text 76"/>
          <p:cNvSpPr txBox="1"/>
          <p:nvPr/>
        </p:nvSpPr>
        <p:spPr>
          <a:xfrm>
            <a:off x="3189035" y="4197096"/>
            <a:ext cx="115906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2"/>
                </a:solidFill>
              </a:rPr>
              <a:t>O cuidado na prática</a:t>
            </a:r>
            <a:endParaRPr lang="en-US" sz="1100" dirty="0"/>
          </a:p>
        </p:txBody>
      </p:sp>
      <p:sp>
        <p:nvSpPr>
          <p:cNvPr id="79" name="Post 04/11"/>
          <p:cNvSpPr/>
          <p:nvPr/>
        </p:nvSpPr>
        <p:spPr>
          <a:xfrm>
            <a:off x="4530983" y="4197096"/>
            <a:ext cx="1305371" cy="749808"/>
          </a:xfrm>
          <a:prstGeom prst="roundRect">
            <a:avLst>
              <a:gd name="adj" fmla="val 12195"/>
            </a:avLst>
          </a:prstGeom>
          <a:solidFill>
            <a:schemeClr val="accent1"/>
          </a:solidFill>
          <a:ln/>
        </p:spPr>
      </p:sp>
      <p:sp>
        <p:nvSpPr>
          <p:cNvPr id="80" name="Text 78"/>
          <p:cNvSpPr txBox="1"/>
          <p:nvPr/>
        </p:nvSpPr>
        <p:spPr>
          <a:xfrm>
            <a:off x="4604135" y="4197096"/>
            <a:ext cx="115906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Quatro frentes, um cuidado</a:t>
            </a:r>
            <a:endParaRPr lang="en-US" sz="1100" dirty="0"/>
          </a:p>
        </p:txBody>
      </p:sp>
      <p:sp>
        <p:nvSpPr>
          <p:cNvPr id="81" name="Post 06/11"/>
          <p:cNvSpPr/>
          <p:nvPr/>
        </p:nvSpPr>
        <p:spPr>
          <a:xfrm>
            <a:off x="7361181" y="4197096"/>
            <a:ext cx="1305371" cy="749808"/>
          </a:xfrm>
          <a:prstGeom prst="roundRect">
            <a:avLst>
              <a:gd name="adj" fmla="val 12195"/>
            </a:avLst>
          </a:prstGeom>
          <a:solidFill>
            <a:schemeClr val="tx1"/>
          </a:solidFill>
          <a:ln/>
        </p:spPr>
      </p:sp>
      <p:sp>
        <p:nvSpPr>
          <p:cNvPr id="82" name="Text 80"/>
          <p:cNvSpPr txBox="1"/>
          <p:nvPr/>
        </p:nvSpPr>
        <p:spPr>
          <a:xfrm>
            <a:off x="7434333" y="4197096"/>
            <a:ext cx="115906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2"/>
                </a:solidFill>
              </a:rPr>
              <a:t>Uma história desde 2009</a:t>
            </a:r>
            <a:endParaRPr lang="en-US" sz="1100" dirty="0"/>
          </a:p>
        </p:txBody>
      </p:sp>
      <p:sp>
        <p:nvSpPr>
          <p:cNvPr id="83" name="Post 09/11"/>
          <p:cNvSpPr/>
          <p:nvPr/>
        </p:nvSpPr>
        <p:spPr>
          <a:xfrm>
            <a:off x="1700784" y="5276088"/>
            <a:ext cx="1305371" cy="749808"/>
          </a:xfrm>
          <a:prstGeom prst="roundRect">
            <a:avLst>
              <a:gd name="adj" fmla="val 12195"/>
            </a:avLst>
          </a:prstGeom>
          <a:solidFill>
            <a:schemeClr val="accent1"/>
          </a:solidFill>
          <a:ln/>
        </p:spPr>
      </p:sp>
      <p:sp>
        <p:nvSpPr>
          <p:cNvPr id="84" name="Text 82"/>
          <p:cNvSpPr txBox="1"/>
          <p:nvPr/>
        </p:nvSpPr>
        <p:spPr>
          <a:xfrm>
            <a:off x="1773936" y="5276088"/>
            <a:ext cx="115906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Resultados reais, com o Dr. Ronald</a:t>
            </a:r>
            <a:endParaRPr lang="en-US" sz="1100" dirty="0"/>
          </a:p>
        </p:txBody>
      </p:sp>
      <p:sp>
        <p:nvSpPr>
          <p:cNvPr id="85" name="Post 11/11"/>
          <p:cNvSpPr/>
          <p:nvPr/>
        </p:nvSpPr>
        <p:spPr>
          <a:xfrm>
            <a:off x="4530983" y="5276088"/>
            <a:ext cx="1305371" cy="749808"/>
          </a:xfrm>
          <a:prstGeom prst="roundRect">
            <a:avLst>
              <a:gd name="adj" fmla="val 12195"/>
            </a:avLst>
          </a:prstGeom>
          <a:solidFill>
            <a:schemeClr val="tx1"/>
          </a:solidFill>
          <a:ln/>
        </p:spPr>
      </p:sp>
      <p:sp>
        <p:nvSpPr>
          <p:cNvPr id="86" name="Text 84"/>
          <p:cNvSpPr txBox="1"/>
          <p:nvPr/>
        </p:nvSpPr>
        <p:spPr>
          <a:xfrm>
            <a:off x="4604135" y="5276088"/>
            <a:ext cx="115906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2"/>
                </a:solidFill>
              </a:rPr>
              <a:t>Estilo de vida é tratamento sério</a:t>
            </a:r>
            <a:endParaRPr lang="en-US" sz="1100" dirty="0"/>
          </a:p>
        </p:txBody>
      </p:sp>
      <p:sp>
        <p:nvSpPr>
          <p:cNvPr id="87" name="Post 13/11"/>
          <p:cNvSpPr/>
          <p:nvPr/>
        </p:nvSpPr>
        <p:spPr>
          <a:xfrm>
            <a:off x="7361181" y="5276088"/>
            <a:ext cx="1305371" cy="749808"/>
          </a:xfrm>
          <a:prstGeom prst="roundRect">
            <a:avLst>
              <a:gd name="adj" fmla="val 12195"/>
            </a:avLst>
          </a:prstGeom>
          <a:solidFill>
            <a:schemeClr val="tx1"/>
          </a:solidFill>
          <a:ln/>
        </p:spPr>
      </p:sp>
      <p:sp>
        <p:nvSpPr>
          <p:cNvPr id="88" name="Text 86"/>
          <p:cNvSpPr txBox="1"/>
          <p:nvPr/>
        </p:nvSpPr>
        <p:spPr>
          <a:xfrm>
            <a:off x="7434333" y="5276088"/>
            <a:ext cx="115906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2"/>
                </a:solidFill>
              </a:rPr>
              <a:t>Como levar a FairHealth à empresa</a:t>
            </a:r>
            <a:endParaRPr lang="en-US" sz="1100" dirty="0"/>
          </a:p>
        </p:txBody>
      </p:sp>
      <p:sp>
        <p:nvSpPr>
          <p:cNvPr id="89" name="Text 87"/>
          <p:cNvSpPr txBox="1"/>
          <p:nvPr/>
        </p:nvSpPr>
        <p:spPr>
          <a:xfrm>
            <a:off x="1645920" y="6236208"/>
            <a:ext cx="9905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4 reels  ·  7 carrosséis  ·  1 foto única  ·  1 reel e 2 posts estáticos por semana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01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3152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>
                <a:solidFill>
                  <a:schemeClr val="tx1"/>
                </a:solidFill>
              </a:rPr>
              <a:t>Semana 1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tx2"/>
                </a:solidFill>
              </a:rPr>
              <a:t>19 a 23/10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726680" y="777240"/>
            <a:ext cx="38249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Reconhecimento e começo da relevância. O Dr. Ronald retoma o que já foi publicado, a origem explica por que existimos e o primeiro post mostra por que cuidar antes.</a:t>
            </a:r>
            <a:endParaRPr lang="en-US" sz="1300" dirty="0"/>
          </a:p>
        </p:txBody>
      </p:sp>
      <p:sp>
        <p:nvSpPr>
          <p:cNvPr id="6" name="Post 19/10"/>
          <p:cNvSpPr/>
          <p:nvPr/>
        </p:nvSpPr>
        <p:spPr>
          <a:xfrm>
            <a:off x="640080" y="2514600"/>
            <a:ext cx="3454298" cy="3291840"/>
          </a:xfrm>
          <a:prstGeom prst="roundRect">
            <a:avLst>
              <a:gd name="adj" fmla="val 3889"/>
            </a:avLst>
          </a:prstGeom>
          <a:solidFill>
            <a:schemeClr val="bg1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788920"/>
            <a:ext cx="50292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pic>
        <p:nvPicPr>
          <p:cNvPr id="8" name="Image 0" descr="Re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907792"/>
            <a:ext cx="265176" cy="26517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54480" y="2898648"/>
            <a:ext cx="2265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Reel  ·  bloco 1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3520440"/>
            <a:ext cx="290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segunda, 19/10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3840480"/>
            <a:ext cx="29056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Quem somos, na voz do Dr. Ronald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4709160"/>
            <a:ext cx="29056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Resumo dos posts já publicados, contado pelo fundador do Escritório do Paciente, puxando a origem em 2009</a:t>
            </a:r>
            <a:endParaRPr lang="en-US" sz="1400" dirty="0"/>
          </a:p>
        </p:txBody>
      </p:sp>
      <p:sp>
        <p:nvSpPr>
          <p:cNvPr id="13" name="Post 21/10"/>
          <p:cNvSpPr/>
          <p:nvPr/>
        </p:nvSpPr>
        <p:spPr>
          <a:xfrm>
            <a:off x="4368698" y="2514600"/>
            <a:ext cx="3454298" cy="3291840"/>
          </a:xfrm>
          <a:prstGeom prst="roundRect">
            <a:avLst>
              <a:gd name="adj" fmla="val 3889"/>
            </a:avLst>
          </a:prstGeom>
          <a:solidFill>
            <a:schemeClr val="bg1"/>
          </a:solidFill>
          <a:ln/>
        </p:spPr>
      </p:sp>
      <p:sp>
        <p:nvSpPr>
          <p:cNvPr id="14" name="Shape 11"/>
          <p:cNvSpPr/>
          <p:nvPr/>
        </p:nvSpPr>
        <p:spPr>
          <a:xfrm>
            <a:off x="4643018" y="2788920"/>
            <a:ext cx="50292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pic>
        <p:nvPicPr>
          <p:cNvPr id="15" name="Image 1" descr="Carross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1890" y="2907792"/>
            <a:ext cx="265176" cy="265176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283098" y="2898648"/>
            <a:ext cx="2265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Carrossel  ·  bloco 1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4643018" y="3520440"/>
            <a:ext cx="290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quarta, 21/10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4643018" y="3840480"/>
            <a:ext cx="29056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Por que a FairHealth existe?</a:t>
            </a:r>
            <a:endParaRPr lang="en-US" sz="1700" dirty="0"/>
          </a:p>
        </p:txBody>
      </p:sp>
      <p:sp>
        <p:nvSpPr>
          <p:cNvPr id="19" name="Text 15"/>
          <p:cNvSpPr txBox="1"/>
          <p:nvPr/>
        </p:nvSpPr>
        <p:spPr>
          <a:xfrm>
            <a:off x="4643018" y="4709160"/>
            <a:ext cx="29056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origem do modelo de cuidado em 2009 e sua evolução até as empresas</a:t>
            </a:r>
            <a:endParaRPr lang="en-US" sz="1400" dirty="0"/>
          </a:p>
        </p:txBody>
      </p:sp>
      <p:sp>
        <p:nvSpPr>
          <p:cNvPr id="20" name="Post 23/10"/>
          <p:cNvSpPr/>
          <p:nvPr/>
        </p:nvSpPr>
        <p:spPr>
          <a:xfrm>
            <a:off x="8097317" y="2514600"/>
            <a:ext cx="3454298" cy="3291840"/>
          </a:xfrm>
          <a:prstGeom prst="roundRect">
            <a:avLst>
              <a:gd name="adj" fmla="val 3889"/>
            </a:avLst>
          </a:prstGeom>
          <a:solidFill>
            <a:schemeClr val="bg1"/>
          </a:solidFill>
          <a:ln/>
        </p:spPr>
      </p:sp>
      <p:sp>
        <p:nvSpPr>
          <p:cNvPr id="21" name="Shape 17"/>
          <p:cNvSpPr/>
          <p:nvPr/>
        </p:nvSpPr>
        <p:spPr>
          <a:xfrm>
            <a:off x="8371637" y="2788920"/>
            <a:ext cx="50292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pic>
        <p:nvPicPr>
          <p:cNvPr id="22" name="Image 2" descr="Carrosse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0509" y="2907792"/>
            <a:ext cx="265176" cy="265176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9011717" y="2898648"/>
            <a:ext cx="2265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Carrossel  ·  bloco 2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8371637" y="3520440"/>
            <a:ext cx="290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sexta, 23/10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8371637" y="3840480"/>
            <a:ext cx="29056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Cuidar da saúde não deveria começar quando algo vai mal</a:t>
            </a:r>
            <a:endParaRPr lang="en-US" sz="1700" dirty="0"/>
          </a:p>
        </p:txBody>
      </p:sp>
      <p:sp>
        <p:nvSpPr>
          <p:cNvPr id="26" name="Text 21"/>
          <p:cNvSpPr txBox="1"/>
          <p:nvPr/>
        </p:nvSpPr>
        <p:spPr>
          <a:xfrm>
            <a:off x="8371637" y="4709160"/>
            <a:ext cx="29056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importância de uma abordagem preventiva, e não apenas reativa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02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3152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>
                <a:solidFill>
                  <a:schemeClr val="tx1"/>
                </a:solidFill>
              </a:rPr>
              <a:t>Semana 2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tx2"/>
                </a:solidFill>
              </a:rPr>
              <a:t>26 a 30/10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726680" y="777240"/>
            <a:ext cx="38249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Relevância. O problema, o argumento de investimento e como a prevenção vira parte da rotina da empresa.</a:t>
            </a:r>
            <a:endParaRPr lang="en-US" sz="1300" dirty="0"/>
          </a:p>
        </p:txBody>
      </p:sp>
      <p:sp>
        <p:nvSpPr>
          <p:cNvPr id="6" name="Post 26/10"/>
          <p:cNvSpPr/>
          <p:nvPr/>
        </p:nvSpPr>
        <p:spPr>
          <a:xfrm>
            <a:off x="640080" y="2514600"/>
            <a:ext cx="3454298" cy="3291840"/>
          </a:xfrm>
          <a:prstGeom prst="roundRect">
            <a:avLst>
              <a:gd name="adj" fmla="val 3889"/>
            </a:avLst>
          </a:prstGeom>
          <a:solidFill>
            <a:schemeClr val="bg1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788920"/>
            <a:ext cx="50292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pic>
        <p:nvPicPr>
          <p:cNvPr id="8" name="Image 0" descr="Re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907792"/>
            <a:ext cx="265176" cy="26517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54480" y="2898648"/>
            <a:ext cx="2265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Reel  ·  bloco 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3520440"/>
            <a:ext cx="290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segunda, 26/10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3840480"/>
            <a:ext cx="29056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O que acontece quando o cuidado não faz parte da rotina?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4709160"/>
            <a:ext cx="29056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Desafios da saúde dos colaboradores: acesso e continuidade do cuidado</a:t>
            </a:r>
            <a:endParaRPr lang="en-US" sz="1400" dirty="0"/>
          </a:p>
        </p:txBody>
      </p:sp>
      <p:sp>
        <p:nvSpPr>
          <p:cNvPr id="13" name="Post 28/10"/>
          <p:cNvSpPr/>
          <p:nvPr/>
        </p:nvSpPr>
        <p:spPr>
          <a:xfrm>
            <a:off x="4368698" y="2514600"/>
            <a:ext cx="3454298" cy="3291840"/>
          </a:xfrm>
          <a:prstGeom prst="roundRect">
            <a:avLst>
              <a:gd name="adj" fmla="val 3889"/>
            </a:avLst>
          </a:prstGeom>
          <a:solidFill>
            <a:schemeClr val="bg1"/>
          </a:solidFill>
          <a:ln/>
        </p:spPr>
      </p:sp>
      <p:sp>
        <p:nvSpPr>
          <p:cNvPr id="14" name="Shape 11"/>
          <p:cNvSpPr/>
          <p:nvPr/>
        </p:nvSpPr>
        <p:spPr>
          <a:xfrm>
            <a:off x="4643018" y="2788920"/>
            <a:ext cx="50292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pic>
        <p:nvPicPr>
          <p:cNvPr id="15" name="Image 1" descr="Foto únic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1890" y="2907792"/>
            <a:ext cx="265176" cy="265176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283098" y="2898648"/>
            <a:ext cx="2265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Foto única  ·  bloco 2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4643018" y="3520440"/>
            <a:ext cx="290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quarta, 28/10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4643018" y="3840480"/>
            <a:ext cx="29056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Prevenção também é investimento</a:t>
            </a:r>
            <a:endParaRPr lang="en-US" sz="1700" dirty="0"/>
          </a:p>
        </p:txBody>
      </p:sp>
      <p:sp>
        <p:nvSpPr>
          <p:cNvPr id="19" name="Text 15"/>
          <p:cNvSpPr txBox="1"/>
          <p:nvPr/>
        </p:nvSpPr>
        <p:spPr>
          <a:xfrm>
            <a:off x="4643018" y="4709160"/>
            <a:ext cx="29056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que os estudos mostram sobre absenteísmo e custos com saúde quando a empresa cuida antes</a:t>
            </a:r>
            <a:endParaRPr lang="en-US" sz="1400" dirty="0"/>
          </a:p>
        </p:txBody>
      </p:sp>
      <p:sp>
        <p:nvSpPr>
          <p:cNvPr id="20" name="Post 30/10"/>
          <p:cNvSpPr/>
          <p:nvPr/>
        </p:nvSpPr>
        <p:spPr>
          <a:xfrm>
            <a:off x="8097317" y="2514600"/>
            <a:ext cx="3454298" cy="3291840"/>
          </a:xfrm>
          <a:prstGeom prst="roundRect">
            <a:avLst>
              <a:gd name="adj" fmla="val 3889"/>
            </a:avLst>
          </a:prstGeom>
          <a:solidFill>
            <a:schemeClr val="bg1"/>
          </a:solidFill>
          <a:ln/>
        </p:spPr>
      </p:sp>
      <p:sp>
        <p:nvSpPr>
          <p:cNvPr id="21" name="Shape 17"/>
          <p:cNvSpPr/>
          <p:nvPr/>
        </p:nvSpPr>
        <p:spPr>
          <a:xfrm>
            <a:off x="8371637" y="2788920"/>
            <a:ext cx="50292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pic>
        <p:nvPicPr>
          <p:cNvPr id="22" name="Image 2" descr="Carrosse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0509" y="2907792"/>
            <a:ext cx="265176" cy="265176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9011717" y="2898648"/>
            <a:ext cx="2265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Carrossel  ·  bloco 2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8371637" y="3520440"/>
            <a:ext cx="290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sexta, 30/10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8371637" y="3840480"/>
            <a:ext cx="29056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Como transformar a prevenção em parte da rotina de uma empresa?</a:t>
            </a:r>
            <a:endParaRPr lang="en-US" sz="1700" dirty="0"/>
          </a:p>
        </p:txBody>
      </p:sp>
      <p:sp>
        <p:nvSpPr>
          <p:cNvPr id="26" name="Text 21"/>
          <p:cNvSpPr txBox="1"/>
          <p:nvPr/>
        </p:nvSpPr>
        <p:spPr>
          <a:xfrm>
            <a:off x="8371637" y="4709160"/>
            <a:ext cx="29056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Conectar o problema ao modelo de cuidado oferecido pela FairHealth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03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3152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>
                <a:solidFill>
                  <a:schemeClr val="tx1"/>
                </a:solidFill>
              </a:rPr>
              <a:t>Semana 3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tx2"/>
                </a:solidFill>
              </a:rPr>
              <a:t>03 a 06/11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726680" y="777240"/>
            <a:ext cx="38249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Compreensão e começo da confiança. O cuidado na prática, as quatro frentes conectadas e a trajetória do método.</a:t>
            </a:r>
            <a:endParaRPr lang="en-US" sz="1300" dirty="0"/>
          </a:p>
        </p:txBody>
      </p:sp>
      <p:sp>
        <p:nvSpPr>
          <p:cNvPr id="6" name="Post 03/11"/>
          <p:cNvSpPr/>
          <p:nvPr/>
        </p:nvSpPr>
        <p:spPr>
          <a:xfrm>
            <a:off x="640080" y="2514600"/>
            <a:ext cx="3454298" cy="3291840"/>
          </a:xfrm>
          <a:prstGeom prst="roundRect">
            <a:avLst>
              <a:gd name="adj" fmla="val 3889"/>
            </a:avLst>
          </a:prstGeom>
          <a:solidFill>
            <a:schemeClr val="bg1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788920"/>
            <a:ext cx="50292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pic>
        <p:nvPicPr>
          <p:cNvPr id="8" name="Image 0" descr="Carros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907792"/>
            <a:ext cx="265176" cy="26517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54480" y="2898648"/>
            <a:ext cx="2265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Carrossel  ·  bloco 3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3520440"/>
            <a:ext cx="290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terça, 03/11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3840480"/>
            <a:ext cx="29056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Como funciona o cuidado na prática?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4709160"/>
            <a:ext cx="29056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jornada entre escuta, atendimento, plano individualizado e acompanhamento</a:t>
            </a:r>
            <a:endParaRPr lang="en-US" sz="1400" dirty="0"/>
          </a:p>
        </p:txBody>
      </p:sp>
      <p:sp>
        <p:nvSpPr>
          <p:cNvPr id="13" name="Post 04/11"/>
          <p:cNvSpPr/>
          <p:nvPr/>
        </p:nvSpPr>
        <p:spPr>
          <a:xfrm>
            <a:off x="4368698" y="2514600"/>
            <a:ext cx="3454298" cy="3291840"/>
          </a:xfrm>
          <a:prstGeom prst="roundRect">
            <a:avLst>
              <a:gd name="adj" fmla="val 3889"/>
            </a:avLst>
          </a:prstGeom>
          <a:solidFill>
            <a:schemeClr val="bg1"/>
          </a:solidFill>
          <a:ln/>
        </p:spPr>
      </p:sp>
      <p:sp>
        <p:nvSpPr>
          <p:cNvPr id="14" name="Shape 11"/>
          <p:cNvSpPr/>
          <p:nvPr/>
        </p:nvSpPr>
        <p:spPr>
          <a:xfrm>
            <a:off x="4643018" y="2788920"/>
            <a:ext cx="50292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pic>
        <p:nvPicPr>
          <p:cNvPr id="15" name="Image 1" descr="Re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1890" y="2907792"/>
            <a:ext cx="265176" cy="265176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283098" y="2898648"/>
            <a:ext cx="2265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Reel  ·  bloco 3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4643018" y="3520440"/>
            <a:ext cx="290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quarta, 04/11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4643018" y="3840480"/>
            <a:ext cx="29056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Quatro frentes, um cuidado conectado</a:t>
            </a:r>
            <a:endParaRPr lang="en-US" sz="1700" dirty="0"/>
          </a:p>
        </p:txBody>
      </p:sp>
      <p:sp>
        <p:nvSpPr>
          <p:cNvPr id="19" name="Text 15"/>
          <p:cNvSpPr txBox="1"/>
          <p:nvPr/>
        </p:nvSpPr>
        <p:spPr>
          <a:xfrm>
            <a:off x="4643018" y="4709160"/>
            <a:ext cx="29056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Medicina do Estilo de Vida, Escritório do Cuidado, plataforma e wearables</a:t>
            </a:r>
            <a:endParaRPr lang="en-US" sz="1400" dirty="0"/>
          </a:p>
        </p:txBody>
      </p:sp>
      <p:sp>
        <p:nvSpPr>
          <p:cNvPr id="20" name="Post 06/11"/>
          <p:cNvSpPr/>
          <p:nvPr/>
        </p:nvSpPr>
        <p:spPr>
          <a:xfrm>
            <a:off x="8097317" y="2514600"/>
            <a:ext cx="3454298" cy="3291840"/>
          </a:xfrm>
          <a:prstGeom prst="roundRect">
            <a:avLst>
              <a:gd name="adj" fmla="val 3889"/>
            </a:avLst>
          </a:prstGeom>
          <a:solidFill>
            <a:schemeClr val="bg1"/>
          </a:solidFill>
          <a:ln/>
        </p:spPr>
      </p:sp>
      <p:sp>
        <p:nvSpPr>
          <p:cNvPr id="21" name="Shape 17"/>
          <p:cNvSpPr/>
          <p:nvPr/>
        </p:nvSpPr>
        <p:spPr>
          <a:xfrm>
            <a:off x="8371637" y="2788920"/>
            <a:ext cx="50292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pic>
        <p:nvPicPr>
          <p:cNvPr id="22" name="Image 2" descr="Carrosse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0509" y="2907792"/>
            <a:ext cx="265176" cy="265176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9011717" y="2898648"/>
            <a:ext cx="2265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Carrossel  ·  bloco 4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8371637" y="3520440"/>
            <a:ext cx="290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sexta, 06/11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8371637" y="3840480"/>
            <a:ext cx="29056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Uma história de cuidado que começou em 2009</a:t>
            </a:r>
            <a:endParaRPr lang="en-US" sz="1700" dirty="0"/>
          </a:p>
        </p:txBody>
      </p:sp>
      <p:sp>
        <p:nvSpPr>
          <p:cNvPr id="26" name="Text 21"/>
          <p:cNvSpPr txBox="1"/>
          <p:nvPr/>
        </p:nvSpPr>
        <p:spPr>
          <a:xfrm>
            <a:off x="8371637" y="4709160"/>
            <a:ext cx="29056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Linha do tempo da metodologia e evolução até a FairHealth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04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3152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>
                <a:solidFill>
                  <a:schemeClr val="tx1"/>
                </a:solidFill>
              </a:rPr>
              <a:t>Semana 4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tx2"/>
                </a:solidFill>
              </a:rPr>
              <a:t>09 a 13/11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726680" y="777240"/>
            <a:ext cx="38249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Confiança. Resultados reais, a ciência por trás do cuidado e o convite para o RH.</a:t>
            </a:r>
            <a:endParaRPr lang="en-US" sz="1300" dirty="0"/>
          </a:p>
        </p:txBody>
      </p:sp>
      <p:sp>
        <p:nvSpPr>
          <p:cNvPr id="6" name="Post 09/11"/>
          <p:cNvSpPr/>
          <p:nvPr/>
        </p:nvSpPr>
        <p:spPr>
          <a:xfrm>
            <a:off x="640080" y="2514600"/>
            <a:ext cx="3454298" cy="3291840"/>
          </a:xfrm>
          <a:prstGeom prst="roundRect">
            <a:avLst>
              <a:gd name="adj" fmla="val 3889"/>
            </a:avLst>
          </a:prstGeom>
          <a:solidFill>
            <a:schemeClr val="bg1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788920"/>
            <a:ext cx="50292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pic>
        <p:nvPicPr>
          <p:cNvPr id="8" name="Image 0" descr="Re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907792"/>
            <a:ext cx="265176" cy="26517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54480" y="2898648"/>
            <a:ext cx="2265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Reel  ·  bloco 4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3520440"/>
            <a:ext cx="290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segunda, 09/11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3840480"/>
            <a:ext cx="29056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Cuidado na prática: experiências e resultados reais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4709160"/>
            <a:ext cx="29056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Evidências e resultados documentados, contados pelo Dr. Ronald</a:t>
            </a:r>
            <a:endParaRPr lang="en-US" sz="1400" dirty="0"/>
          </a:p>
        </p:txBody>
      </p:sp>
      <p:sp>
        <p:nvSpPr>
          <p:cNvPr id="13" name="Post 11/11"/>
          <p:cNvSpPr/>
          <p:nvPr/>
        </p:nvSpPr>
        <p:spPr>
          <a:xfrm>
            <a:off x="4368698" y="2514600"/>
            <a:ext cx="3454298" cy="3291840"/>
          </a:xfrm>
          <a:prstGeom prst="roundRect">
            <a:avLst>
              <a:gd name="adj" fmla="val 3889"/>
            </a:avLst>
          </a:prstGeom>
          <a:solidFill>
            <a:schemeClr val="bg1"/>
          </a:solidFill>
          <a:ln/>
        </p:spPr>
      </p:sp>
      <p:sp>
        <p:nvSpPr>
          <p:cNvPr id="14" name="Shape 11"/>
          <p:cNvSpPr/>
          <p:nvPr/>
        </p:nvSpPr>
        <p:spPr>
          <a:xfrm>
            <a:off x="4643018" y="2788920"/>
            <a:ext cx="50292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pic>
        <p:nvPicPr>
          <p:cNvPr id="15" name="Image 1" descr="Carross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1890" y="2907792"/>
            <a:ext cx="265176" cy="265176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283098" y="2898648"/>
            <a:ext cx="2265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Carrossel  ·  bloco 4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4643018" y="3520440"/>
            <a:ext cx="290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quarta, 11/11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4643018" y="3840480"/>
            <a:ext cx="29056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Estilo de vida também é tratamento sério</a:t>
            </a:r>
            <a:endParaRPr lang="en-US" sz="1700" dirty="0"/>
          </a:p>
        </p:txBody>
      </p:sp>
      <p:sp>
        <p:nvSpPr>
          <p:cNvPr id="19" name="Text 15"/>
          <p:cNvSpPr txBox="1"/>
          <p:nvPr/>
        </p:nvSpPr>
        <p:spPr>
          <a:xfrm>
            <a:off x="4643018" y="4709160"/>
            <a:ext cx="29056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que a ciência mostra sobre mudar a rotina, na semana do Dia Mundial do Diabetes</a:t>
            </a:r>
            <a:endParaRPr lang="en-US" sz="1400" dirty="0"/>
          </a:p>
        </p:txBody>
      </p:sp>
      <p:sp>
        <p:nvSpPr>
          <p:cNvPr id="20" name="Post 13/11"/>
          <p:cNvSpPr/>
          <p:nvPr/>
        </p:nvSpPr>
        <p:spPr>
          <a:xfrm>
            <a:off x="8097317" y="2514600"/>
            <a:ext cx="3454298" cy="3291840"/>
          </a:xfrm>
          <a:prstGeom prst="roundRect">
            <a:avLst>
              <a:gd name="adj" fmla="val 3889"/>
            </a:avLst>
          </a:prstGeom>
          <a:solidFill>
            <a:schemeClr val="bg1"/>
          </a:solidFill>
          <a:ln/>
        </p:spPr>
      </p:sp>
      <p:sp>
        <p:nvSpPr>
          <p:cNvPr id="21" name="Shape 17"/>
          <p:cNvSpPr/>
          <p:nvPr/>
        </p:nvSpPr>
        <p:spPr>
          <a:xfrm>
            <a:off x="8371637" y="2788920"/>
            <a:ext cx="50292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pic>
        <p:nvPicPr>
          <p:cNvPr id="22" name="Image 2" descr="Carrosse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0509" y="2907792"/>
            <a:ext cx="265176" cy="265176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9011717" y="2898648"/>
            <a:ext cx="2265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Carrossel  ·  bloco 4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8371637" y="3520440"/>
            <a:ext cx="290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sexta, 13/11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8371637" y="3840480"/>
            <a:ext cx="29056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Como levar a FairHealth para sua empresa?</a:t>
            </a:r>
            <a:endParaRPr lang="en-US" sz="1700" dirty="0"/>
          </a:p>
        </p:txBody>
      </p:sp>
      <p:sp>
        <p:nvSpPr>
          <p:cNvPr id="26" name="Text 21"/>
          <p:cNvSpPr txBox="1"/>
          <p:nvPr/>
        </p:nvSpPr>
        <p:spPr>
          <a:xfrm>
            <a:off x="8371637" y="4709160"/>
            <a:ext cx="29056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Encerramento da apresentação inicial com orientação para o RH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irhealth">
  <a:themeElements>
    <a:clrScheme name="fairhealth">
      <a:dk1>
        <a:srgbClr val="1F3A36"/>
      </a:dk1>
      <a:lt1>
        <a:srgbClr val="FFFFFF"/>
      </a:lt1>
      <a:dk2>
        <a:srgbClr val="2F6B64"/>
      </a:dk2>
      <a:lt2>
        <a:srgbClr val="F0F0E9"/>
      </a:lt2>
      <a:accent1>
        <a:srgbClr val="96C5BD"/>
      </a:accent1>
      <a:accent2>
        <a:srgbClr val="BFE0D9"/>
      </a:accent2>
      <a:accent3>
        <a:srgbClr val="0D1816"/>
      </a:accent3>
      <a:accent4>
        <a:srgbClr val="5FA89A"/>
      </a:accent4>
      <a:accent5>
        <a:srgbClr val="1F3A36"/>
      </a:accent5>
      <a:accent6>
        <a:srgbClr val="2F6B64"/>
      </a:accent6>
      <a:hlink>
        <a:srgbClr val="2F6B64"/>
      </a:hlink>
      <a:folHlink>
        <a:srgbClr val="1F3A36"/>
      </a:folHlink>
    </a:clrScheme>
    <a:fontScheme name="fairhealth">
      <a:majorFont>
        <a:latin typeface="Ralew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aleway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Programação do Instagram · 19/10 a 13/11</dc:title>
  <dc:subject>PptxGenJS Presentation</dc:subject>
  <dc:creator>fairhealth</dc:creator>
  <cp:lastModifiedBy>fairhealth</cp:lastModifiedBy>
  <cp:revision>1</cp:revision>
  <dcterms:created xsi:type="dcterms:W3CDTF">2026-10-14T21:33:45Z</dcterms:created>
  <dcterms:modified xsi:type="dcterms:W3CDTF">2026-10-14T21:33:45Z</dcterms:modified>
</cp:coreProperties>
</file>