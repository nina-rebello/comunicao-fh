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bjetivo do mês" id="{54f41b71-23c8-3068-480c-cd584d054edc}">
          <p14:sldIdLst>
            <p14:sldId id="256"/>
          </p14:sldIdLst>
        </p14:section>
        <p14:section name="Calendário" id="{7c1b6edb-27ae-1204-d5d4-1d86a67f3aad}">
          <p14:sldIdLst>
            <p14:sldId id="257"/>
          </p14:sldIdLst>
        </p14:section>
        <p14:section name="Detalhamento" id="{1bb91ecb-a028-9a01-2901-b91ce6c42b3a}">
          <p14:sldIdLst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JETIV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ENDARI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14300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MA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pic>
        <p:nvPicPr>
          <p:cNvPr id="4" name="Image 0" descr="/home/user/Comunica-o-FH/instagram/marca/logo-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1672" y="6108192"/>
            <a:ext cx="420624" cy="42062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PROGRAMAÇÃO DO INSTAGRAM  ·  01/11 A 30/11</a:t>
            </a:r>
            <a:endParaRPr lang="en-US" sz="1200" dirty="0"/>
          </a:p>
        </p:txBody>
      </p:sp>
      <p:sp>
        <p:nvSpPr>
          <p:cNvPr id="3" name="titulo-mes"/>
          <p:cNvSpPr txBox="1"/>
          <p:nvPr/>
        </p:nvSpPr>
        <p:spPr>
          <a:xfrm>
            <a:off x="822960" y="182880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chemeClr val="bg1"/>
                </a:solidFill>
              </a:rPr>
              <a:t>Programação de posts</a:t>
            </a:r>
            <a:endParaRPr lang="en-US" sz="6600" dirty="0"/>
          </a:p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</a:rPr>
              <a:t>novembro</a:t>
            </a:r>
            <a:endParaRPr lang="en-US" sz="6600" dirty="0"/>
          </a:p>
        </p:txBody>
      </p:sp>
      <p:sp>
        <p:nvSpPr>
          <p:cNvPr id="4" name="objetivo"/>
          <p:cNvSpPr txBox="1"/>
          <p:nvPr/>
        </p:nvSpPr>
        <p:spPr>
          <a:xfrm>
            <a:off x="822960" y="416052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Nosso objetivo este mês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Fechar a apresentação da FairHealth e abrir a conversa com o RH. Primeiro, mostramos o cuidado na prática e as provas de que ele funciona. Depois, usamos temas do momento (Novembro Azul, NR-01, saúde do RH, Geração Z) para mostrar que entendemos o que as empresas estão vivendo e terminamos com o convite ao diagnóstico, enquanto o RH fecha o orçamento de 2027.</a:t>
            </a:r>
            <a:endParaRPr lang="en-US" sz="1600" dirty="0"/>
          </a:p>
        </p:txBody>
      </p:sp>
      <p:pic>
        <p:nvPicPr>
          <p:cNvPr id="5" name="Image 0" descr="/home/user/Comunica-o-FH/instagram/marca/logo-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7352" y="5833872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Calendário</a:t>
            </a:r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 de conteúdo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1430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01/11 a 30/11  ·  3 posts por semana</a:t>
            </a:r>
            <a:endParaRPr lang="en-US" sz="1800" dirty="0"/>
          </a:p>
        </p:txBody>
      </p:sp>
      <p:sp>
        <p:nvSpPr>
          <p:cNvPr id="4" name="legenda-reel"/>
          <p:cNvSpPr/>
          <p:nvPr/>
        </p:nvSpPr>
        <p:spPr>
          <a:xfrm>
            <a:off x="7543800" y="502920"/>
            <a:ext cx="457200" cy="1828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74152" y="4389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Reel</a:t>
            </a:r>
            <a:endParaRPr lang="en-US" sz="1200" dirty="0"/>
          </a:p>
        </p:txBody>
      </p:sp>
      <p:sp>
        <p:nvSpPr>
          <p:cNvPr id="6" name="legenda-carrossel"/>
          <p:cNvSpPr/>
          <p:nvPr/>
        </p:nvSpPr>
        <p:spPr>
          <a:xfrm>
            <a:off x="9025128" y="502920"/>
            <a:ext cx="457200" cy="1828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55480" y="4389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Carrossel</a:t>
            </a:r>
            <a:endParaRPr lang="en-US" sz="1200" dirty="0"/>
          </a:p>
        </p:txBody>
      </p:sp>
      <p:sp>
        <p:nvSpPr>
          <p:cNvPr id="8" name="legenda-foto"/>
          <p:cNvSpPr/>
          <p:nvPr/>
        </p:nvSpPr>
        <p:spPr>
          <a:xfrm>
            <a:off x="10506456" y="502920"/>
            <a:ext cx="457200" cy="1828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36808" y="4389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Foto única</a:t>
            </a:r>
            <a:endParaRPr lang="en-US" sz="1200" dirty="0"/>
          </a:p>
        </p:txBody>
      </p:sp>
      <p:sp>
        <p:nvSpPr>
          <p:cNvPr id="10" name="legenda-tipo-P"/>
          <p:cNvSpPr/>
          <p:nvPr/>
        </p:nvSpPr>
        <p:spPr>
          <a:xfrm>
            <a:off x="7543800" y="914400"/>
            <a:ext cx="219456" cy="21945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43800" y="9144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36408" y="86868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Produto</a:t>
            </a:r>
            <a:endParaRPr lang="en-US" sz="1200" dirty="0"/>
          </a:p>
        </p:txBody>
      </p:sp>
      <p:sp>
        <p:nvSpPr>
          <p:cNvPr id="13" name="legenda-tipo-I"/>
          <p:cNvSpPr/>
          <p:nvPr/>
        </p:nvSpPr>
        <p:spPr>
          <a:xfrm>
            <a:off x="9025128" y="914400"/>
            <a:ext cx="219456" cy="21945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25128" y="9144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I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317736" y="86868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Institucional</a:t>
            </a:r>
            <a:endParaRPr lang="en-US" sz="1200" dirty="0"/>
          </a:p>
        </p:txBody>
      </p:sp>
      <p:sp>
        <p:nvSpPr>
          <p:cNvPr id="16" name="legenda-tipo-E"/>
          <p:cNvSpPr/>
          <p:nvPr/>
        </p:nvSpPr>
        <p:spPr>
          <a:xfrm>
            <a:off x="10506456" y="914400"/>
            <a:ext cx="219456" cy="21945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06456" y="9144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99064" y="86868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17382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605963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94545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83127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sex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771709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sáb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160290" y="1572768"/>
            <a:ext cx="13885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1938528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Semana 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02/11 a 06/11</a:t>
            </a:r>
            <a:endParaRPr lang="en-US" sz="1400" dirty="0"/>
          </a:p>
        </p:txBody>
      </p:sp>
      <p:sp>
        <p:nvSpPr>
          <p:cNvPr id="27" name="celula-02/11"/>
          <p:cNvSpPr/>
          <p:nvPr/>
        </p:nvSpPr>
        <p:spPr>
          <a:xfrm>
            <a:off x="1828800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92808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892808" y="2194560"/>
            <a:ext cx="12605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Finados</a:t>
            </a:r>
            <a:endParaRPr lang="en-US" sz="1000" dirty="0"/>
          </a:p>
        </p:txBody>
      </p:sp>
      <p:sp>
        <p:nvSpPr>
          <p:cNvPr id="30" name="celula-03/11"/>
          <p:cNvSpPr/>
          <p:nvPr/>
        </p:nvSpPr>
        <p:spPr>
          <a:xfrm>
            <a:off x="3217382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81390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03</a:t>
            </a:r>
            <a:endParaRPr lang="en-US" sz="1000" dirty="0"/>
          </a:p>
        </p:txBody>
      </p:sp>
      <p:sp>
        <p:nvSpPr>
          <p:cNvPr id="32" name="post-3"/>
          <p:cNvSpPr/>
          <p:nvPr/>
        </p:nvSpPr>
        <p:spPr>
          <a:xfrm>
            <a:off x="3281390" y="2157984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308822" y="2176272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Como funciona o cuidado na prática?</a:t>
            </a:r>
            <a:endParaRPr lang="en-US" sz="1100" dirty="0"/>
          </a:p>
        </p:txBody>
      </p:sp>
      <p:sp>
        <p:nvSpPr>
          <p:cNvPr id="34" name="tipo-3"/>
          <p:cNvSpPr/>
          <p:nvPr/>
        </p:nvSpPr>
        <p:spPr>
          <a:xfrm>
            <a:off x="4340787" y="2194560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340787" y="219456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36" name="celula-04/11"/>
          <p:cNvSpPr/>
          <p:nvPr/>
        </p:nvSpPr>
        <p:spPr>
          <a:xfrm>
            <a:off x="4605963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9971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04</a:t>
            </a:r>
            <a:endParaRPr lang="en-US" sz="1000" dirty="0"/>
          </a:p>
        </p:txBody>
      </p:sp>
      <p:sp>
        <p:nvSpPr>
          <p:cNvPr id="38" name="post-4"/>
          <p:cNvSpPr/>
          <p:nvPr/>
        </p:nvSpPr>
        <p:spPr>
          <a:xfrm>
            <a:off x="4669971" y="2157984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97403" y="2176272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Quatro frentes, um cuidado conectado</a:t>
            </a:r>
            <a:endParaRPr lang="en-US" sz="1100" dirty="0"/>
          </a:p>
        </p:txBody>
      </p:sp>
      <p:sp>
        <p:nvSpPr>
          <p:cNvPr id="40" name="tipo-4"/>
          <p:cNvSpPr/>
          <p:nvPr/>
        </p:nvSpPr>
        <p:spPr>
          <a:xfrm>
            <a:off x="5729369" y="2194560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729369" y="219456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42" name="celula-05/11"/>
          <p:cNvSpPr/>
          <p:nvPr/>
        </p:nvSpPr>
        <p:spPr>
          <a:xfrm>
            <a:off x="5994545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58553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05</a:t>
            </a:r>
            <a:endParaRPr lang="en-US" sz="1000" dirty="0"/>
          </a:p>
        </p:txBody>
      </p:sp>
      <p:sp>
        <p:nvSpPr>
          <p:cNvPr id="44" name="celula-06/11"/>
          <p:cNvSpPr/>
          <p:nvPr/>
        </p:nvSpPr>
        <p:spPr>
          <a:xfrm>
            <a:off x="7383127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447135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06</a:t>
            </a:r>
            <a:endParaRPr lang="en-US" sz="1000" dirty="0"/>
          </a:p>
        </p:txBody>
      </p:sp>
      <p:sp>
        <p:nvSpPr>
          <p:cNvPr id="46" name="post-6"/>
          <p:cNvSpPr/>
          <p:nvPr/>
        </p:nvSpPr>
        <p:spPr>
          <a:xfrm>
            <a:off x="7447135" y="2157984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474567" y="2176272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Uma história de cuidado desde 2009</a:t>
            </a:r>
            <a:endParaRPr lang="en-US" sz="1100" dirty="0"/>
          </a:p>
        </p:txBody>
      </p:sp>
      <p:sp>
        <p:nvSpPr>
          <p:cNvPr id="48" name="tipo-6"/>
          <p:cNvSpPr/>
          <p:nvPr/>
        </p:nvSpPr>
        <p:spPr>
          <a:xfrm>
            <a:off x="8506533" y="2194560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506533" y="219456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I</a:t>
            </a:r>
            <a:endParaRPr lang="en-US" sz="800" dirty="0"/>
          </a:p>
        </p:txBody>
      </p:sp>
      <p:sp>
        <p:nvSpPr>
          <p:cNvPr id="50" name="celula-07/11"/>
          <p:cNvSpPr/>
          <p:nvPr/>
        </p:nvSpPr>
        <p:spPr>
          <a:xfrm>
            <a:off x="8771709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835717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07</a:t>
            </a:r>
            <a:endParaRPr lang="en-US" sz="1000" dirty="0"/>
          </a:p>
        </p:txBody>
      </p:sp>
      <p:sp>
        <p:nvSpPr>
          <p:cNvPr id="52" name="celula-08/11"/>
          <p:cNvSpPr/>
          <p:nvPr/>
        </p:nvSpPr>
        <p:spPr>
          <a:xfrm>
            <a:off x="10160290" y="1938528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224298" y="1975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08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2834640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Semana 4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09/11 a 13/11</a:t>
            </a:r>
            <a:endParaRPr lang="en-US" sz="1400" dirty="0"/>
          </a:p>
        </p:txBody>
      </p:sp>
      <p:sp>
        <p:nvSpPr>
          <p:cNvPr id="55" name="celula-09/11"/>
          <p:cNvSpPr/>
          <p:nvPr/>
        </p:nvSpPr>
        <p:spPr>
          <a:xfrm>
            <a:off x="1828800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892808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09</a:t>
            </a:r>
            <a:endParaRPr lang="en-US" sz="1000" dirty="0"/>
          </a:p>
        </p:txBody>
      </p:sp>
      <p:sp>
        <p:nvSpPr>
          <p:cNvPr id="57" name="post-9"/>
          <p:cNvSpPr/>
          <p:nvPr/>
        </p:nvSpPr>
        <p:spPr>
          <a:xfrm>
            <a:off x="1892808" y="3054096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072384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Cuidado na prática: resultados reais</a:t>
            </a:r>
            <a:endParaRPr lang="en-US" sz="1100" dirty="0"/>
          </a:p>
        </p:txBody>
      </p:sp>
      <p:sp>
        <p:nvSpPr>
          <p:cNvPr id="59" name="tipo-9"/>
          <p:cNvSpPr/>
          <p:nvPr/>
        </p:nvSpPr>
        <p:spPr>
          <a:xfrm>
            <a:off x="2952206" y="3090672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952206" y="309067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61" name="celula-10/11"/>
          <p:cNvSpPr/>
          <p:nvPr/>
        </p:nvSpPr>
        <p:spPr>
          <a:xfrm>
            <a:off x="3217382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281390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10</a:t>
            </a:r>
            <a:endParaRPr lang="en-US" sz="1000" dirty="0"/>
          </a:p>
        </p:txBody>
      </p:sp>
      <p:sp>
        <p:nvSpPr>
          <p:cNvPr id="63" name="celula-11/11"/>
          <p:cNvSpPr/>
          <p:nvPr/>
        </p:nvSpPr>
        <p:spPr>
          <a:xfrm>
            <a:off x="4605963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669971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</a:t>
            </a:r>
            <a:endParaRPr lang="en-US" sz="1000" dirty="0"/>
          </a:p>
        </p:txBody>
      </p:sp>
      <p:sp>
        <p:nvSpPr>
          <p:cNvPr id="65" name="post-11"/>
          <p:cNvSpPr/>
          <p:nvPr/>
        </p:nvSpPr>
        <p:spPr>
          <a:xfrm>
            <a:off x="4669971" y="3054096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697403" y="3072384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Estilo de vida também é tratamento sério</a:t>
            </a:r>
            <a:endParaRPr lang="en-US" sz="1100" dirty="0"/>
          </a:p>
        </p:txBody>
      </p:sp>
      <p:sp>
        <p:nvSpPr>
          <p:cNvPr id="67" name="tipo-11"/>
          <p:cNvSpPr/>
          <p:nvPr/>
        </p:nvSpPr>
        <p:spPr>
          <a:xfrm>
            <a:off x="5729369" y="3090672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729369" y="309067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69" name="celula-12/11"/>
          <p:cNvSpPr/>
          <p:nvPr/>
        </p:nvSpPr>
        <p:spPr>
          <a:xfrm>
            <a:off x="5994545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058553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12</a:t>
            </a:r>
            <a:endParaRPr lang="en-US" sz="1000" dirty="0"/>
          </a:p>
        </p:txBody>
      </p:sp>
      <p:sp>
        <p:nvSpPr>
          <p:cNvPr id="71" name="celula-13/11"/>
          <p:cNvSpPr/>
          <p:nvPr/>
        </p:nvSpPr>
        <p:spPr>
          <a:xfrm>
            <a:off x="7383127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447135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13</a:t>
            </a:r>
            <a:endParaRPr lang="en-US" sz="1000" dirty="0"/>
          </a:p>
        </p:txBody>
      </p:sp>
      <p:sp>
        <p:nvSpPr>
          <p:cNvPr id="73" name="post-13"/>
          <p:cNvSpPr/>
          <p:nvPr/>
        </p:nvSpPr>
        <p:spPr>
          <a:xfrm>
            <a:off x="7447135" y="3054096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474567" y="3072384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Como levar a FairHealth para sua empresa?</a:t>
            </a:r>
            <a:endParaRPr lang="en-US" sz="1100" dirty="0"/>
          </a:p>
        </p:txBody>
      </p:sp>
      <p:sp>
        <p:nvSpPr>
          <p:cNvPr id="75" name="tipo-13"/>
          <p:cNvSpPr/>
          <p:nvPr/>
        </p:nvSpPr>
        <p:spPr>
          <a:xfrm>
            <a:off x="8506533" y="3090672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506533" y="309067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77" name="celula-14/11"/>
          <p:cNvSpPr/>
          <p:nvPr/>
        </p:nvSpPr>
        <p:spPr>
          <a:xfrm>
            <a:off x="8771709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835717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14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8835717" y="3090672"/>
            <a:ext cx="12605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Dia Mundial do Diabetes</a:t>
            </a:r>
            <a:endParaRPr lang="en-US" sz="1000" dirty="0"/>
          </a:p>
        </p:txBody>
      </p:sp>
      <p:sp>
        <p:nvSpPr>
          <p:cNvPr id="80" name="celula-15/11"/>
          <p:cNvSpPr/>
          <p:nvPr/>
        </p:nvSpPr>
        <p:spPr>
          <a:xfrm>
            <a:off x="10160290" y="2834640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24298" y="28712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15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10224298" y="3090672"/>
            <a:ext cx="12605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Proclamação da República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640080" y="3730752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Semana 5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16/11 a 20/11</a:t>
            </a:r>
            <a:endParaRPr lang="en-US" sz="1400" dirty="0"/>
          </a:p>
        </p:txBody>
      </p:sp>
      <p:sp>
        <p:nvSpPr>
          <p:cNvPr id="84" name="celula-16/11"/>
          <p:cNvSpPr/>
          <p:nvPr/>
        </p:nvSpPr>
        <p:spPr>
          <a:xfrm>
            <a:off x="1828800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92808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16</a:t>
            </a:r>
            <a:endParaRPr lang="en-US" sz="1000" dirty="0"/>
          </a:p>
        </p:txBody>
      </p:sp>
      <p:sp>
        <p:nvSpPr>
          <p:cNvPr id="86" name="post-16"/>
          <p:cNvSpPr/>
          <p:nvPr/>
        </p:nvSpPr>
        <p:spPr>
          <a:xfrm>
            <a:off x="1892808" y="3950208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20240" y="3968496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Novembro Azul: ele só vai ao médico quando dói</a:t>
            </a:r>
            <a:endParaRPr lang="en-US" sz="1100" dirty="0"/>
          </a:p>
        </p:txBody>
      </p:sp>
      <p:sp>
        <p:nvSpPr>
          <p:cNvPr id="88" name="tipo-16"/>
          <p:cNvSpPr/>
          <p:nvPr/>
        </p:nvSpPr>
        <p:spPr>
          <a:xfrm>
            <a:off x="2952206" y="3986784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952206" y="39867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E</a:t>
            </a:r>
            <a:endParaRPr lang="en-US" sz="800" dirty="0"/>
          </a:p>
        </p:txBody>
      </p:sp>
      <p:sp>
        <p:nvSpPr>
          <p:cNvPr id="90" name="celula-17/11"/>
          <p:cNvSpPr/>
          <p:nvPr/>
        </p:nvSpPr>
        <p:spPr>
          <a:xfrm>
            <a:off x="3217382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281390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17</a:t>
            </a:r>
            <a:endParaRPr lang="en-US" sz="1000" dirty="0"/>
          </a:p>
        </p:txBody>
      </p:sp>
      <p:sp>
        <p:nvSpPr>
          <p:cNvPr id="92" name="celula-18/11"/>
          <p:cNvSpPr/>
          <p:nvPr/>
        </p:nvSpPr>
        <p:spPr>
          <a:xfrm>
            <a:off x="4605963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669971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18</a:t>
            </a:r>
            <a:endParaRPr lang="en-US" sz="1000" dirty="0"/>
          </a:p>
        </p:txBody>
      </p:sp>
      <p:sp>
        <p:nvSpPr>
          <p:cNvPr id="94" name="post-18"/>
          <p:cNvSpPr/>
          <p:nvPr/>
        </p:nvSpPr>
        <p:spPr>
          <a:xfrm>
            <a:off x="4669971" y="3950208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697403" y="3968496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Afastamentos por saúde mental e a NR-01</a:t>
            </a:r>
            <a:endParaRPr lang="en-US" sz="1100" dirty="0"/>
          </a:p>
        </p:txBody>
      </p:sp>
      <p:sp>
        <p:nvSpPr>
          <p:cNvPr id="96" name="tipo-18"/>
          <p:cNvSpPr/>
          <p:nvPr/>
        </p:nvSpPr>
        <p:spPr>
          <a:xfrm>
            <a:off x="5729369" y="3986784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729369" y="39867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98" name="celula-19/11"/>
          <p:cNvSpPr/>
          <p:nvPr/>
        </p:nvSpPr>
        <p:spPr>
          <a:xfrm>
            <a:off x="5994545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058553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19</a:t>
            </a:r>
            <a:endParaRPr lang="en-US" sz="1000" dirty="0"/>
          </a:p>
        </p:txBody>
      </p:sp>
      <p:sp>
        <p:nvSpPr>
          <p:cNvPr id="100" name="post-19"/>
          <p:cNvSpPr/>
          <p:nvPr/>
        </p:nvSpPr>
        <p:spPr>
          <a:xfrm>
            <a:off x="6058553" y="3950208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085985" y="3968496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Depoimento: “Os meus hábitos mudaram”</a:t>
            </a:r>
            <a:endParaRPr lang="en-US" sz="1100" dirty="0"/>
          </a:p>
        </p:txBody>
      </p:sp>
      <p:sp>
        <p:nvSpPr>
          <p:cNvPr id="102" name="tipo-19"/>
          <p:cNvSpPr/>
          <p:nvPr/>
        </p:nvSpPr>
        <p:spPr>
          <a:xfrm>
            <a:off x="7117951" y="3986784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117951" y="39867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104" name="celula-20/11"/>
          <p:cNvSpPr/>
          <p:nvPr/>
        </p:nvSpPr>
        <p:spPr>
          <a:xfrm>
            <a:off x="7383127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447135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7447135" y="3986784"/>
            <a:ext cx="12605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Consciência Negra (feriado)</a:t>
            </a:r>
            <a:endParaRPr lang="en-US" sz="1000" dirty="0"/>
          </a:p>
        </p:txBody>
      </p:sp>
      <p:sp>
        <p:nvSpPr>
          <p:cNvPr id="107" name="celula-21/11"/>
          <p:cNvSpPr/>
          <p:nvPr/>
        </p:nvSpPr>
        <p:spPr>
          <a:xfrm>
            <a:off x="8771709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8835717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21</a:t>
            </a:r>
            <a:endParaRPr lang="en-US" sz="1000" dirty="0"/>
          </a:p>
        </p:txBody>
      </p:sp>
      <p:sp>
        <p:nvSpPr>
          <p:cNvPr id="109" name="celula-22/11"/>
          <p:cNvSpPr/>
          <p:nvPr/>
        </p:nvSpPr>
        <p:spPr>
          <a:xfrm>
            <a:off x="10160290" y="3730752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10224298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22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640080" y="4626864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Semana 6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23/11 a 27/11</a:t>
            </a:r>
            <a:endParaRPr lang="en-US" sz="1400" dirty="0"/>
          </a:p>
        </p:txBody>
      </p:sp>
      <p:sp>
        <p:nvSpPr>
          <p:cNvPr id="112" name="celula-23/11"/>
          <p:cNvSpPr/>
          <p:nvPr/>
        </p:nvSpPr>
        <p:spPr>
          <a:xfrm>
            <a:off x="1828800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92808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23</a:t>
            </a:r>
            <a:endParaRPr lang="en-US" sz="1000" dirty="0"/>
          </a:p>
        </p:txBody>
      </p:sp>
      <p:sp>
        <p:nvSpPr>
          <p:cNvPr id="114" name="post-23"/>
          <p:cNvSpPr/>
          <p:nvPr/>
        </p:nvSpPr>
        <p:spPr>
          <a:xfrm>
            <a:off x="1892808" y="4846320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920240" y="4864608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 RH cuida de todo mundo. Quem cuida do RH?</a:t>
            </a:r>
            <a:endParaRPr lang="en-US" sz="1100" dirty="0"/>
          </a:p>
        </p:txBody>
      </p:sp>
      <p:sp>
        <p:nvSpPr>
          <p:cNvPr id="116" name="tipo-23"/>
          <p:cNvSpPr/>
          <p:nvPr/>
        </p:nvSpPr>
        <p:spPr>
          <a:xfrm>
            <a:off x="2952206" y="4882896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952206" y="4882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118" name="celula-24/11"/>
          <p:cNvSpPr/>
          <p:nvPr/>
        </p:nvSpPr>
        <p:spPr>
          <a:xfrm>
            <a:off x="3217382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3281390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24</a:t>
            </a:r>
            <a:endParaRPr lang="en-US" sz="1000" dirty="0"/>
          </a:p>
        </p:txBody>
      </p:sp>
      <p:sp>
        <p:nvSpPr>
          <p:cNvPr id="120" name="celula-25/11"/>
          <p:cNvSpPr/>
          <p:nvPr/>
        </p:nvSpPr>
        <p:spPr>
          <a:xfrm>
            <a:off x="4605963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4669971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25</a:t>
            </a:r>
            <a:endParaRPr lang="en-US" sz="1000" dirty="0"/>
          </a:p>
        </p:txBody>
      </p:sp>
      <p:sp>
        <p:nvSpPr>
          <p:cNvPr id="122" name="post-25"/>
          <p:cNvSpPr/>
          <p:nvPr/>
        </p:nvSpPr>
        <p:spPr>
          <a:xfrm>
            <a:off x="4669971" y="4846320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4697403" y="4864608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Por que a Geração Z está tão desconectada do trabalho?</a:t>
            </a:r>
            <a:endParaRPr lang="en-US" sz="1100" dirty="0"/>
          </a:p>
        </p:txBody>
      </p:sp>
      <p:sp>
        <p:nvSpPr>
          <p:cNvPr id="124" name="tipo-25"/>
          <p:cNvSpPr/>
          <p:nvPr/>
        </p:nvSpPr>
        <p:spPr>
          <a:xfrm>
            <a:off x="5729369" y="4882896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5729369" y="4882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126" name="celula-26/11"/>
          <p:cNvSpPr/>
          <p:nvPr/>
        </p:nvSpPr>
        <p:spPr>
          <a:xfrm>
            <a:off x="5994545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6058553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26</a:t>
            </a:r>
            <a:endParaRPr lang="en-US" sz="1000" dirty="0"/>
          </a:p>
        </p:txBody>
      </p:sp>
      <p:sp>
        <p:nvSpPr>
          <p:cNvPr id="128" name="celula-27/11"/>
          <p:cNvSpPr/>
          <p:nvPr/>
        </p:nvSpPr>
        <p:spPr>
          <a:xfrm>
            <a:off x="7383127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7447135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27</a:t>
            </a:r>
            <a:endParaRPr lang="en-US" sz="1000" dirty="0"/>
          </a:p>
        </p:txBody>
      </p:sp>
      <p:sp>
        <p:nvSpPr>
          <p:cNvPr id="130" name="post-27"/>
          <p:cNvSpPr/>
          <p:nvPr/>
        </p:nvSpPr>
        <p:spPr>
          <a:xfrm>
            <a:off x="7447135" y="4846320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7474567" y="4864608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Case Chemitec: 98% de adesão</a:t>
            </a:r>
            <a:endParaRPr lang="en-US" sz="1100" dirty="0"/>
          </a:p>
        </p:txBody>
      </p:sp>
      <p:sp>
        <p:nvSpPr>
          <p:cNvPr id="132" name="tipo-27"/>
          <p:cNvSpPr/>
          <p:nvPr/>
        </p:nvSpPr>
        <p:spPr>
          <a:xfrm>
            <a:off x="8506533" y="4882896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8506533" y="4882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P</a:t>
            </a:r>
            <a:endParaRPr lang="en-US" sz="800" dirty="0"/>
          </a:p>
        </p:txBody>
      </p:sp>
      <p:sp>
        <p:nvSpPr>
          <p:cNvPr id="134" name="celula-28/11"/>
          <p:cNvSpPr/>
          <p:nvPr/>
        </p:nvSpPr>
        <p:spPr>
          <a:xfrm>
            <a:off x="8771709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8835717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28</a:t>
            </a:r>
            <a:endParaRPr lang="en-US" sz="1000" dirty="0"/>
          </a:p>
        </p:txBody>
      </p:sp>
      <p:sp>
        <p:nvSpPr>
          <p:cNvPr id="136" name="celula-29/11"/>
          <p:cNvSpPr/>
          <p:nvPr/>
        </p:nvSpPr>
        <p:spPr>
          <a:xfrm>
            <a:off x="10160290" y="4626864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10224298" y="4663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29</a:t>
            </a:r>
            <a:endParaRPr lang="en-US" sz="1000" dirty="0"/>
          </a:p>
        </p:txBody>
      </p:sp>
      <p:sp>
        <p:nvSpPr>
          <p:cNvPr id="138" name="Text 136"/>
          <p:cNvSpPr txBox="1"/>
          <p:nvPr/>
        </p:nvSpPr>
        <p:spPr>
          <a:xfrm>
            <a:off x="640080" y="5522976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Semana 7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30/11 a 04/12</a:t>
            </a:r>
            <a:endParaRPr lang="en-US" sz="1400" dirty="0"/>
          </a:p>
        </p:txBody>
      </p:sp>
      <p:sp>
        <p:nvSpPr>
          <p:cNvPr id="139" name="celula-30/11"/>
          <p:cNvSpPr/>
          <p:nvPr/>
        </p:nvSpPr>
        <p:spPr>
          <a:xfrm>
            <a:off x="1828800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892808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30</a:t>
            </a:r>
            <a:endParaRPr lang="en-US" sz="1000" dirty="0"/>
          </a:p>
        </p:txBody>
      </p:sp>
      <p:sp>
        <p:nvSpPr>
          <p:cNvPr id="141" name="post-30"/>
          <p:cNvSpPr/>
          <p:nvPr/>
        </p:nvSpPr>
        <p:spPr>
          <a:xfrm>
            <a:off x="1892808" y="5742432"/>
            <a:ext cx="1260566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1920240" y="5760720"/>
            <a:ext cx="10045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Dezembro chegou: a corrida das metas também adoece</a:t>
            </a:r>
            <a:endParaRPr lang="en-US" sz="1100" dirty="0"/>
          </a:p>
        </p:txBody>
      </p:sp>
      <p:sp>
        <p:nvSpPr>
          <p:cNvPr id="143" name="tipo-30"/>
          <p:cNvSpPr/>
          <p:nvPr/>
        </p:nvSpPr>
        <p:spPr>
          <a:xfrm>
            <a:off x="2952206" y="5779008"/>
            <a:ext cx="164592" cy="1645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2952206" y="5779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E</a:t>
            </a:r>
            <a:endParaRPr lang="en-US" sz="800" dirty="0"/>
          </a:p>
        </p:txBody>
      </p:sp>
      <p:sp>
        <p:nvSpPr>
          <p:cNvPr id="145" name="celula-01/12"/>
          <p:cNvSpPr/>
          <p:nvPr/>
        </p:nvSpPr>
        <p:spPr>
          <a:xfrm>
            <a:off x="3217382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3281390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01</a:t>
            </a:r>
            <a:endParaRPr lang="en-US" sz="1000" dirty="0"/>
          </a:p>
        </p:txBody>
      </p:sp>
      <p:sp>
        <p:nvSpPr>
          <p:cNvPr id="147" name="celula-02/12"/>
          <p:cNvSpPr/>
          <p:nvPr/>
        </p:nvSpPr>
        <p:spPr>
          <a:xfrm>
            <a:off x="4605963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4669971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02</a:t>
            </a:r>
            <a:endParaRPr lang="en-US" sz="1000" dirty="0"/>
          </a:p>
        </p:txBody>
      </p:sp>
      <p:sp>
        <p:nvSpPr>
          <p:cNvPr id="149" name="celula-03/12"/>
          <p:cNvSpPr/>
          <p:nvPr/>
        </p:nvSpPr>
        <p:spPr>
          <a:xfrm>
            <a:off x="5994545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6058553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03</a:t>
            </a:r>
            <a:endParaRPr lang="en-US" sz="1000" dirty="0"/>
          </a:p>
        </p:txBody>
      </p:sp>
      <p:sp>
        <p:nvSpPr>
          <p:cNvPr id="151" name="celula-04/12"/>
          <p:cNvSpPr/>
          <p:nvPr/>
        </p:nvSpPr>
        <p:spPr>
          <a:xfrm>
            <a:off x="7383127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7447135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04</a:t>
            </a:r>
            <a:endParaRPr lang="en-US" sz="1000" dirty="0"/>
          </a:p>
        </p:txBody>
      </p:sp>
      <p:sp>
        <p:nvSpPr>
          <p:cNvPr id="153" name="celula-05/12"/>
          <p:cNvSpPr/>
          <p:nvPr/>
        </p:nvSpPr>
        <p:spPr>
          <a:xfrm>
            <a:off x="8771709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8835717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05</a:t>
            </a:r>
            <a:endParaRPr lang="en-US" sz="1000" dirty="0"/>
          </a:p>
        </p:txBody>
      </p:sp>
      <p:sp>
        <p:nvSpPr>
          <p:cNvPr id="155" name="celula-06/12"/>
          <p:cNvSpPr/>
          <p:nvPr/>
        </p:nvSpPr>
        <p:spPr>
          <a:xfrm>
            <a:off x="10160290" y="5522976"/>
            <a:ext cx="1388582" cy="896112"/>
          </a:xfrm>
          <a:prstGeom prst="rect">
            <a:avLst/>
          </a:prstGeom>
          <a:solidFill>
            <a:schemeClr val="bg2"/>
          </a:solidFill>
          <a:ln w="9525">
            <a:solidFill>
              <a:srgbClr val="A9CFC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10224298" y="5559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4C1"/>
                </a:solidFill>
              </a:rPr>
              <a:t>06</a:t>
            </a:r>
            <a:endParaRPr lang="en-US" sz="1000" dirty="0"/>
          </a:p>
        </p:txBody>
      </p:sp>
      <p:sp>
        <p:nvSpPr>
          <p:cNvPr id="157" name="Text 155"/>
          <p:cNvSpPr txBox="1"/>
          <p:nvPr/>
        </p:nvSpPr>
        <p:spPr>
          <a:xfrm>
            <a:off x="1828800" y="65562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reels  ·  7 carrosséis  ·  1 foto única  ·  1 reel e 2 posts estáticos por semana  ·  feriados sem post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Semana 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03 a 06/11</a:t>
            </a:r>
            <a:endParaRPr lang="en-US" sz="2200" dirty="0"/>
          </a:p>
        </p:txBody>
      </p:sp>
      <p:sp>
        <p:nvSpPr>
          <p:cNvPr id="4" name="periodo"/>
          <p:cNvSpPr/>
          <p:nvPr/>
        </p:nvSpPr>
        <p:spPr>
          <a:xfrm>
            <a:off x="640080" y="6144768"/>
            <a:ext cx="1609344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144768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tx1"/>
                </a:solidFill>
              </a:rPr>
              <a:t>01/11 A 30/11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26680" y="731520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Compreensão e começo da confiança. O cuidado na prática, as quatro frentes conectadas e a trajetória do método.</a:t>
            </a:r>
            <a:endParaRPr lang="en-US" sz="1400" dirty="0"/>
          </a:p>
        </p:txBody>
      </p:sp>
      <p:sp>
        <p:nvSpPr>
          <p:cNvPr id="7" name="cartao-3"/>
          <p:cNvSpPr/>
          <p:nvPr/>
        </p:nvSpPr>
        <p:spPr>
          <a:xfrm>
            <a:off x="640080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icone-fundo-3"/>
          <p:cNvSpPr/>
          <p:nvPr/>
        </p:nvSpPr>
        <p:spPr>
          <a:xfrm>
            <a:off x="914400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Carross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3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terça, 03/11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Como funciona o cuidado na prática?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jornada entre escuta, atendimento, plano individualizado e acompanhamento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a definir</a:t>
            </a:r>
            <a:endParaRPr lang="en-US" sz="1100" dirty="0"/>
          </a:p>
        </p:txBody>
      </p:sp>
      <p:sp>
        <p:nvSpPr>
          <p:cNvPr id="15" name="cartao-4"/>
          <p:cNvSpPr/>
          <p:nvPr/>
        </p:nvSpPr>
        <p:spPr>
          <a:xfrm>
            <a:off x="4370832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icone-fundo-4"/>
          <p:cNvSpPr/>
          <p:nvPr/>
        </p:nvSpPr>
        <p:spPr>
          <a:xfrm>
            <a:off x="4645152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1" descr="Re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6060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30952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Reel  ·  bloco 3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645152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quarta, 04/11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645152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Quatro frentes, um cuidado conectado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645152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Medicina do Estilo de Vida, Escritório do Cuidado, plataforma e wearables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a definir</a:t>
            </a:r>
            <a:endParaRPr lang="en-US" sz="1100" dirty="0"/>
          </a:p>
        </p:txBody>
      </p:sp>
      <p:sp>
        <p:nvSpPr>
          <p:cNvPr id="23" name="cartao-6"/>
          <p:cNvSpPr/>
          <p:nvPr/>
        </p:nvSpPr>
        <p:spPr>
          <a:xfrm>
            <a:off x="8101584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icone-fundo-6"/>
          <p:cNvSpPr/>
          <p:nvPr/>
        </p:nvSpPr>
        <p:spPr>
          <a:xfrm>
            <a:off x="8375904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Carross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60604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061704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4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75904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sexta, 06/11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375904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Uma história de cuidado que começou em 2009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75904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Linha do tempo da metodologia e evolução até a FairHealth (validar com o Dr. Ronald)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5904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Institucional  · 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a definir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Semana 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09 a 13/11</a:t>
            </a:r>
            <a:endParaRPr lang="en-US" sz="2200" dirty="0"/>
          </a:p>
        </p:txBody>
      </p:sp>
      <p:sp>
        <p:nvSpPr>
          <p:cNvPr id="4" name="periodo"/>
          <p:cNvSpPr/>
          <p:nvPr/>
        </p:nvSpPr>
        <p:spPr>
          <a:xfrm>
            <a:off x="640080" y="6144768"/>
            <a:ext cx="1609344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144768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tx1"/>
                </a:solidFill>
              </a:rPr>
              <a:t>01/11 A 30/11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26680" y="731520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Confiança. Resultados reais, a ciência por trás do cuidado e o convite para o RH.</a:t>
            </a:r>
            <a:endParaRPr lang="en-US" sz="1400" dirty="0"/>
          </a:p>
        </p:txBody>
      </p:sp>
      <p:sp>
        <p:nvSpPr>
          <p:cNvPr id="7" name="cartao-9"/>
          <p:cNvSpPr/>
          <p:nvPr/>
        </p:nvSpPr>
        <p:spPr>
          <a:xfrm>
            <a:off x="640080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icone-fundo-9"/>
          <p:cNvSpPr/>
          <p:nvPr/>
        </p:nvSpPr>
        <p:spPr>
          <a:xfrm>
            <a:off x="914400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Re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Reel  ·  bloco 4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segunda, 09/11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Cuidado na prática: experiências e resultados reais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Evidências e resultados documentados, contados pelo Dr. Ronald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a definir</a:t>
            </a:r>
            <a:endParaRPr lang="en-US" sz="1100" dirty="0"/>
          </a:p>
        </p:txBody>
      </p:sp>
      <p:sp>
        <p:nvSpPr>
          <p:cNvPr id="15" name="cartao-11"/>
          <p:cNvSpPr/>
          <p:nvPr/>
        </p:nvSpPr>
        <p:spPr>
          <a:xfrm>
            <a:off x="4370832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icone-fundo-11"/>
          <p:cNvSpPr/>
          <p:nvPr/>
        </p:nvSpPr>
        <p:spPr>
          <a:xfrm>
            <a:off x="4645152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1" descr="Carross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6060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30952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4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645152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quarta, 11/11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645152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Estilo de vida também é tratamento sério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645152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 que a ciência mostra sobre mudar a rotina, na semana do Dia Mundial do Diabetes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Cultura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a definir</a:t>
            </a:r>
            <a:endParaRPr lang="en-US" sz="1100" dirty="0"/>
          </a:p>
        </p:txBody>
      </p:sp>
      <p:sp>
        <p:nvSpPr>
          <p:cNvPr id="23" name="cartao-13"/>
          <p:cNvSpPr/>
          <p:nvPr/>
        </p:nvSpPr>
        <p:spPr>
          <a:xfrm>
            <a:off x="8101584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icone-fundo-13"/>
          <p:cNvSpPr/>
          <p:nvPr/>
        </p:nvSpPr>
        <p:spPr>
          <a:xfrm>
            <a:off x="8375904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Carross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60604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061704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4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75904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sexta, 13/11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375904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Como levar a FairHealth para sua empresa?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75904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Encerramento da apresentação inicial com orientação para o RH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5904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 (comercial)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Semana 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16 a 19/11</a:t>
            </a:r>
            <a:endParaRPr lang="en-US" sz="2200" dirty="0"/>
          </a:p>
        </p:txBody>
      </p:sp>
      <p:sp>
        <p:nvSpPr>
          <p:cNvPr id="4" name="periodo"/>
          <p:cNvSpPr/>
          <p:nvPr/>
        </p:nvSpPr>
        <p:spPr>
          <a:xfrm>
            <a:off x="640080" y="6144768"/>
            <a:ext cx="1609344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144768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tx1"/>
                </a:solidFill>
              </a:rPr>
              <a:t>01/11 A 30/11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26680" y="731520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Atualidade. Novembro Azul, NR-01 e a voz de quem é cuidado: temas do momento que levam ao Escritório do Cuidado. Sexta, 20/11, é feriado.</a:t>
            </a:r>
            <a:endParaRPr lang="en-US" sz="1400" dirty="0"/>
          </a:p>
        </p:txBody>
      </p:sp>
      <p:sp>
        <p:nvSpPr>
          <p:cNvPr id="7" name="cartao-16"/>
          <p:cNvSpPr/>
          <p:nvPr/>
        </p:nvSpPr>
        <p:spPr>
          <a:xfrm>
            <a:off x="640080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icone-fundo-16"/>
          <p:cNvSpPr/>
          <p:nvPr/>
        </p:nvSpPr>
        <p:spPr>
          <a:xfrm>
            <a:off x="914400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Re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Reel  ·  bloco 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segunda, 16/11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Ele só vai ao médico quando dói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Novembro Azul: o homem não deixa de se cuidar por descuido, e sim porque cuidar dá trabalho. Com o cuidado dentro da empresa, a barreira cai o ano todo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Evento  ·  Cultura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</a:t>
            </a:r>
            <a:endParaRPr lang="en-US" sz="1100" dirty="0"/>
          </a:p>
        </p:txBody>
      </p:sp>
      <p:sp>
        <p:nvSpPr>
          <p:cNvPr id="15" name="cartao-18"/>
          <p:cNvSpPr/>
          <p:nvPr/>
        </p:nvSpPr>
        <p:spPr>
          <a:xfrm>
            <a:off x="4370832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icone-fundo-18"/>
          <p:cNvSpPr/>
          <p:nvPr/>
        </p:nvSpPr>
        <p:spPr>
          <a:xfrm>
            <a:off x="4645152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1" descr="Carross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6060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30952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5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645152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quarta, 18/11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645152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Recorde de afastamentos por saúde mental: o que a NR-01 cobra do RH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645152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546,2 mil licenças em 2025 e a gestão de riscos psicossociais além da planilha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Notícias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 e receba o guia de NR-01</a:t>
            </a:r>
            <a:endParaRPr lang="en-US" sz="1100" dirty="0"/>
          </a:p>
        </p:txBody>
      </p:sp>
      <p:sp>
        <p:nvSpPr>
          <p:cNvPr id="23" name="cartao-19"/>
          <p:cNvSpPr/>
          <p:nvPr/>
        </p:nvSpPr>
        <p:spPr>
          <a:xfrm>
            <a:off x="8101584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icone-fundo-19"/>
          <p:cNvSpPr/>
          <p:nvPr/>
        </p:nvSpPr>
        <p:spPr>
          <a:xfrm>
            <a:off x="8375904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Foto ún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60604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061704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Foto única  ·  bloco 5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75904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quinta, 19/11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375904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“Os meus hábitos mudaram, e não foi um sacrifício.”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75904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voz de quem é cuidado: mudança real, sem promessa de resultado clínico. Entra na quinta porque sexta é feriado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5904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nenhuma (post de prova)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Semana 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23 a 27/11</a:t>
            </a:r>
            <a:endParaRPr lang="en-US" sz="2200" dirty="0"/>
          </a:p>
        </p:txBody>
      </p:sp>
      <p:sp>
        <p:nvSpPr>
          <p:cNvPr id="4" name="periodo"/>
          <p:cNvSpPr/>
          <p:nvPr/>
        </p:nvSpPr>
        <p:spPr>
          <a:xfrm>
            <a:off x="640080" y="6144768"/>
            <a:ext cx="1609344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144768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tx1"/>
                </a:solidFill>
              </a:rPr>
              <a:t>01/11 A 30/11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26680" y="731520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Atualidade e decisão. Quem cuida do RH, a desconexão dos jovens e a prova da Chemitec, com o convite ao diagnóstico.</a:t>
            </a:r>
            <a:endParaRPr lang="en-US" sz="1400" dirty="0"/>
          </a:p>
        </p:txBody>
      </p:sp>
      <p:sp>
        <p:nvSpPr>
          <p:cNvPr id="7" name="cartao-23"/>
          <p:cNvSpPr/>
          <p:nvPr/>
        </p:nvSpPr>
        <p:spPr>
          <a:xfrm>
            <a:off x="640080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icone-fundo-23"/>
          <p:cNvSpPr/>
          <p:nvPr/>
        </p:nvSpPr>
        <p:spPr>
          <a:xfrm>
            <a:off x="914400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Re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Reel  ·  bloco 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segunda, 23/11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 RH cuida de todo mundo. Quem cuida do RH?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Dados do Panorama da Saúde Emocional do RH 2026 e o cuidado que chega também a quem cuida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Notícias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Mande para alguém do RH</a:t>
            </a:r>
            <a:endParaRPr lang="en-US" sz="1100" dirty="0"/>
          </a:p>
        </p:txBody>
      </p:sp>
      <p:sp>
        <p:nvSpPr>
          <p:cNvPr id="15" name="cartao-25"/>
          <p:cNvSpPr/>
          <p:nvPr/>
        </p:nvSpPr>
        <p:spPr>
          <a:xfrm>
            <a:off x="4370832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icone-fundo-25"/>
          <p:cNvSpPr/>
          <p:nvPr/>
        </p:nvSpPr>
        <p:spPr>
          <a:xfrm>
            <a:off x="4645152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1" descr="Carross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6060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30952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5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645152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quarta, 25/11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645152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 que a Geração Z está tão desconectada do trabalho?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645152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Não é preguiça nem falta de compromisso. A resposta começa com a pergunta que quase ninguém faz: o que importa para você?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Cultura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</a:t>
            </a:r>
            <a:endParaRPr lang="en-US" sz="1100" dirty="0"/>
          </a:p>
        </p:txBody>
      </p:sp>
      <p:sp>
        <p:nvSpPr>
          <p:cNvPr id="23" name="cartao-27"/>
          <p:cNvSpPr/>
          <p:nvPr/>
        </p:nvSpPr>
        <p:spPr>
          <a:xfrm>
            <a:off x="8101584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icone-fundo-27"/>
          <p:cNvSpPr/>
          <p:nvPr/>
        </p:nvSpPr>
        <p:spPr>
          <a:xfrm>
            <a:off x="8375904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Carross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60604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061704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Carrossel  ·  bloco 6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75904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sexta, 27/11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375904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Como 98% do time aceitou ser cuidado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375904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Case Chemitec: 161 atendimentos e 81,3% de retorno. Convite ao diagnóstico antes do orçamento de 2027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5904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Produto  · 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 (diagnóstico gratuito)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chemeClr val="tx1"/>
                </a:solidFill>
              </a:rPr>
              <a:t>Semana 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30/11</a:t>
            </a:r>
            <a:endParaRPr lang="en-US" sz="2200" dirty="0"/>
          </a:p>
        </p:txBody>
      </p:sp>
      <p:sp>
        <p:nvSpPr>
          <p:cNvPr id="4" name="periodo"/>
          <p:cNvSpPr/>
          <p:nvPr/>
        </p:nvSpPr>
        <p:spPr>
          <a:xfrm>
            <a:off x="640080" y="6144768"/>
            <a:ext cx="1609344" cy="34747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144768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tx1"/>
                </a:solidFill>
              </a:rPr>
              <a:t>01/11 A 30/11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26680" y="731520"/>
            <a:ext cx="3822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Decisão e passagem para dezembro, com o RH fechando o orçamento de 2027.</a:t>
            </a:r>
            <a:endParaRPr lang="en-US" sz="1400" dirty="0"/>
          </a:p>
        </p:txBody>
      </p:sp>
      <p:sp>
        <p:nvSpPr>
          <p:cNvPr id="7" name="cartao-30"/>
          <p:cNvSpPr/>
          <p:nvPr/>
        </p:nvSpPr>
        <p:spPr>
          <a:xfrm>
            <a:off x="640080" y="2240280"/>
            <a:ext cx="3456432" cy="365760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icone-fundo-30"/>
          <p:cNvSpPr/>
          <p:nvPr/>
        </p:nvSpPr>
        <p:spPr>
          <a:xfrm>
            <a:off x="914400" y="2514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Re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5146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Reel  ·  bloco 6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segunda, 30/11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502152"/>
            <a:ext cx="2907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Dezembro chegou: a corrida das metas também adoece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434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Uma prática de 1 minuto para o fim de ano e o convite para cuidar antes de 2027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Evento  ·  Cultura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Chamada: Comente CUIDADO</a:t>
            </a:r>
            <a:endParaRPr lang="en-US" sz="1100" dirty="0"/>
          </a:p>
        </p:txBody>
      </p:sp>
      <p:sp>
        <p:nvSpPr>
          <p:cNvPr id="15" name="pendencias"/>
          <p:cNvSpPr/>
          <p:nvPr/>
        </p:nvSpPr>
        <p:spPr>
          <a:xfrm>
            <a:off x="4370832" y="2240280"/>
            <a:ext cx="7178040" cy="3657600"/>
          </a:xfrm>
          <a:prstGeom prst="roundRect">
            <a:avLst>
              <a:gd name="adj" fmla="val 3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2560320"/>
            <a:ext cx="644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Para novembro funcionar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6446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Até 13/11: guia de NR-01 pronto e validado pelo Dr. Ronald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Até 13/11: resposta automática da palavra CUIDADO e página do diagnóstico no 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Até 06/11: Chemitec autoriza o uso do nome (e, se topar, post em coautoria)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Revisão técnica dos posts de Novembro Azul, NR-01 e saúde mental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Conferir na fonte original os dados do INSS, da Flash e da pesquisa sobre homens e saúde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accent2"/>
                </a:solidFill>
              </a:rPr>
              <a:t>Definir quem do comercial responde os contatos em até 24 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irhealth">
  <a:themeElements>
    <a:clrScheme name="fairhealth">
      <a:dk1>
        <a:srgbClr val="1F3B36"/>
      </a:dk1>
      <a:lt1>
        <a:srgbClr val="FFFFFF"/>
      </a:lt1>
      <a:dk2>
        <a:srgbClr val="2F6B64"/>
      </a:dk2>
      <a:lt2>
        <a:srgbClr val="F0F0EA"/>
      </a:lt2>
      <a:accent1>
        <a:srgbClr val="96C3BA"/>
      </a:accent1>
      <a:accent2>
        <a:srgbClr val="C0E1DA"/>
      </a:accent2>
      <a:accent3>
        <a:srgbClr val="1F3B36"/>
      </a:accent3>
      <a:accent4>
        <a:srgbClr val="2F6B64"/>
      </a:accent4>
      <a:accent5>
        <a:srgbClr val="F0F0EA"/>
      </a:accent5>
      <a:accent6>
        <a:srgbClr val="BFE0D9"/>
      </a:accent6>
      <a:hlink>
        <a:srgbClr val="2F6B64"/>
      </a:hlink>
      <a:folHlink>
        <a:srgbClr val="2F6B64"/>
      </a:folHlink>
    </a:clrScheme>
    <a:fontScheme name="fairhealt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Programação do Instagram · novembro 2026</dc:title>
  <dc:subject>PptxGenJS Presentation</dc:subject>
  <dc:creator>FairHealth</dc:creator>
  <cp:lastModifiedBy>FairHealth</cp:lastModifiedBy>
  <cp:revision>1</cp:revision>
  <dcterms:created xsi:type="dcterms:W3CDTF">2026-10-22T20:48:44Z</dcterms:created>
  <dcterms:modified xsi:type="dcterms:W3CDTF">2026-10-22T20:48:44Z</dcterms:modified>
</cp:coreProperties>
</file>