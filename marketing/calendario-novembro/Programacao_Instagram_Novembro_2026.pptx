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tivo do mês" id="{8b65964b-2a9c-c2bc-7b5b-ec835702d3d2}">
          <p14:sldIdLst>
            <p14:sldId id="256"/>
          </p14:sldIdLst>
        </p14:section>
        <p14:section name="Calendário" id="{7817c789-43e9-0b62-abdf-29ebe2c3a9c5}">
          <p14:sldIdLst>
            <p14:sldId id="257"/>
          </p14:sldIdLst>
        </p14:section>
        <p14:section name="Detalhamento" id="{89e60167-f848-9b60-a717-bef9988b29e3}">
          <p14:sldIdLst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blocos 1 e 2 (reconhecimento e relevância) foram em outubro. Novembro fecha a apresentação inicial (blocos 3 e 4) e abre a fase de atualidade e decisão (blocos 5 e 6), na janela de orçamento do RH.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TIV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ENDARI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43000"/>
            <a:ext cx="6583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MAN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home/user/Comunica-o-FH/instagram/marca/logo-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6108192"/>
            <a:ext cx="420624" cy="4206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na-3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numero-3"/>
          <p:cNvSpPr txBox="1"/>
          <p:nvPr/>
        </p:nvSpPr>
        <p:spPr>
          <a:xfrm>
            <a:off x="411480" y="30175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25196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Compreensão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0916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Como a FairHealth transforma isso em cuidado real?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5532120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Mostrar o cuidado na prática, pela experiência de quem é atendido.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617220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2 posts · 03 e 04/11</a:t>
            </a:r>
            <a:endParaRPr lang="en-US" sz="1200" dirty="0"/>
          </a:p>
        </p:txBody>
      </p:sp>
      <p:sp>
        <p:nvSpPr>
          <p:cNvPr id="8" name="coluna-4"/>
          <p:cNvSpPr/>
          <p:nvPr/>
        </p:nvSpPr>
        <p:spPr>
          <a:xfrm>
            <a:off x="3047924" y="0"/>
            <a:ext cx="3047924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umero-4"/>
          <p:cNvSpPr txBox="1"/>
          <p:nvPr/>
        </p:nvSpPr>
        <p:spPr>
          <a:xfrm>
            <a:off x="3459404" y="6858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3459404" y="192024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Confiança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59404" y="237744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acreditar na metodologia e na empresa?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04" y="3200400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Dar provas e abrir um caminho claro para o RH.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59404" y="38404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4 posts · 06 a 13/11</a:t>
            </a:r>
            <a:endParaRPr lang="en-US" sz="1200" dirty="0"/>
          </a:p>
        </p:txBody>
      </p:sp>
      <p:sp>
        <p:nvSpPr>
          <p:cNvPr id="14" name="seta-4"/>
          <p:cNvSpPr/>
          <p:nvPr/>
        </p:nvSpPr>
        <p:spPr>
          <a:xfrm rot="5400000">
            <a:off x="2993060" y="1069848"/>
            <a:ext cx="237744" cy="164592"/>
          </a:xfrm>
          <a:prstGeom prst="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coluna-5"/>
          <p:cNvSpPr/>
          <p:nvPr/>
        </p:nvSpPr>
        <p:spPr>
          <a:xfrm>
            <a:off x="6095848" y="0"/>
            <a:ext cx="3047924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ero-5"/>
          <p:cNvSpPr txBox="1"/>
          <p:nvPr/>
        </p:nvSpPr>
        <p:spPr>
          <a:xfrm>
            <a:off x="6507328" y="25146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8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74904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Atualidade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20624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isso importa agora?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5029200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Ler o momento das empresas: temas em alta que levam ao Escritório do Cuidado.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566928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5 posts · 16 a 25/11</a:t>
            </a:r>
            <a:endParaRPr lang="en-US" sz="1200" dirty="0"/>
          </a:p>
        </p:txBody>
      </p:sp>
      <p:sp>
        <p:nvSpPr>
          <p:cNvPr id="21" name="seta-5"/>
          <p:cNvSpPr/>
          <p:nvPr/>
        </p:nvSpPr>
        <p:spPr>
          <a:xfrm rot="5400000">
            <a:off x="6040984" y="2898648"/>
            <a:ext cx="237744" cy="164592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coluna-6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ero-6"/>
          <p:cNvSpPr txBox="1"/>
          <p:nvPr/>
        </p:nvSpPr>
        <p:spPr>
          <a:xfrm>
            <a:off x="9555251" y="15087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8800" dirty="0"/>
          </a:p>
        </p:txBody>
      </p:sp>
      <p:sp>
        <p:nvSpPr>
          <p:cNvPr id="24" name="Text 22"/>
          <p:cNvSpPr txBox="1"/>
          <p:nvPr/>
        </p:nvSpPr>
        <p:spPr>
          <a:xfrm>
            <a:off x="9555251" y="2743200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Decisão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555251" y="320040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começar agora?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55251" y="4023360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Provar adesão e convidar o RH a planejar 2027 com cuidado.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55251" y="466344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2 posts · 27 e 30/11</a:t>
            </a:r>
            <a:endParaRPr lang="en-US" sz="1200" dirty="0"/>
          </a:p>
        </p:txBody>
      </p:sp>
      <p:sp>
        <p:nvSpPr>
          <p:cNvPr id="28" name="seta-6"/>
          <p:cNvSpPr/>
          <p:nvPr/>
        </p:nvSpPr>
        <p:spPr>
          <a:xfrm rot="5400000">
            <a:off x="9088907" y="1892808"/>
            <a:ext cx="237744" cy="164592"/>
          </a:xfrm>
          <a:prstGeom prst="triangl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411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PROGRAMAÇÃO DO INSTAGRAM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01/11 A 30/11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1188720"/>
            <a:ext cx="22249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Objetivo de novembro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Sair da apresentação e entrar na conversa com o RH: mostrar o cuidado na prática, provar que funciona e ler o momento das empresas antes do orçamento de 2027.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Calendário</a:t>
            </a:r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 de conteúdo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43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01/11 a 30/11  ·  3 posts por semana</a:t>
            </a:r>
            <a:endParaRPr lang="en-US" sz="1800" dirty="0"/>
          </a:p>
        </p:txBody>
      </p:sp>
      <p:sp>
        <p:nvSpPr>
          <p:cNvPr id="4" name="legenda-reel"/>
          <p:cNvSpPr/>
          <p:nvPr/>
        </p:nvSpPr>
        <p:spPr>
          <a:xfrm>
            <a:off x="7543800" y="502920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74152" y="438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</a:t>
            </a:r>
            <a:endParaRPr lang="en-US" sz="1200" dirty="0"/>
          </a:p>
        </p:txBody>
      </p:sp>
      <p:sp>
        <p:nvSpPr>
          <p:cNvPr id="6" name="legenda-carrossel"/>
          <p:cNvSpPr/>
          <p:nvPr/>
        </p:nvSpPr>
        <p:spPr>
          <a:xfrm>
            <a:off x="9025128" y="502920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55480" y="438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Carrossel</a:t>
            </a:r>
            <a:endParaRPr lang="en-US" sz="1200" dirty="0"/>
          </a:p>
        </p:txBody>
      </p:sp>
      <p:sp>
        <p:nvSpPr>
          <p:cNvPr id="8" name="legenda-foto"/>
          <p:cNvSpPr/>
          <p:nvPr/>
        </p:nvSpPr>
        <p:spPr>
          <a:xfrm>
            <a:off x="10506456" y="502920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36808" y="438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Foto única</a:t>
            </a:r>
            <a:endParaRPr lang="en-US" sz="1200" dirty="0"/>
          </a:p>
        </p:txBody>
      </p:sp>
      <p:sp>
        <p:nvSpPr>
          <p:cNvPr id="10" name="legenda-tipo-P"/>
          <p:cNvSpPr/>
          <p:nvPr/>
        </p:nvSpPr>
        <p:spPr>
          <a:xfrm>
            <a:off x="7543800" y="914400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914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36408" y="868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Produto</a:t>
            </a:r>
            <a:endParaRPr lang="en-US" sz="1200" dirty="0"/>
          </a:p>
        </p:txBody>
      </p:sp>
      <p:sp>
        <p:nvSpPr>
          <p:cNvPr id="13" name="legenda-tipo-I"/>
          <p:cNvSpPr/>
          <p:nvPr/>
        </p:nvSpPr>
        <p:spPr>
          <a:xfrm>
            <a:off x="9025128" y="914400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25128" y="914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317736" y="868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Institucional</a:t>
            </a:r>
            <a:endParaRPr lang="en-US" sz="1200" dirty="0"/>
          </a:p>
        </p:txBody>
      </p:sp>
      <p:sp>
        <p:nvSpPr>
          <p:cNvPr id="16" name="legenda-tipo-E"/>
          <p:cNvSpPr/>
          <p:nvPr/>
        </p:nvSpPr>
        <p:spPr>
          <a:xfrm>
            <a:off x="10506456" y="914400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06456" y="914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99064" y="868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Evento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17382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05963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94545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83127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771709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sáb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160290" y="1572768"/>
            <a:ext cx="1388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1938528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26/10 a 30/10</a:t>
            </a:r>
            <a:endParaRPr lang="en-US" sz="1400" dirty="0"/>
          </a:p>
        </p:txBody>
      </p:sp>
      <p:sp>
        <p:nvSpPr>
          <p:cNvPr id="27" name="celula-26/10"/>
          <p:cNvSpPr/>
          <p:nvPr/>
        </p:nvSpPr>
        <p:spPr>
          <a:xfrm>
            <a:off x="1828800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92808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26</a:t>
            </a:r>
            <a:endParaRPr lang="en-US" sz="1000" dirty="0"/>
          </a:p>
        </p:txBody>
      </p:sp>
      <p:sp>
        <p:nvSpPr>
          <p:cNvPr id="29" name="celula-27/10"/>
          <p:cNvSpPr/>
          <p:nvPr/>
        </p:nvSpPr>
        <p:spPr>
          <a:xfrm>
            <a:off x="3217382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81390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27</a:t>
            </a:r>
            <a:endParaRPr lang="en-US" sz="1000" dirty="0"/>
          </a:p>
        </p:txBody>
      </p:sp>
      <p:sp>
        <p:nvSpPr>
          <p:cNvPr id="31" name="celula-28/10"/>
          <p:cNvSpPr/>
          <p:nvPr/>
        </p:nvSpPr>
        <p:spPr>
          <a:xfrm>
            <a:off x="4605963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9971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celula-29/10"/>
          <p:cNvSpPr/>
          <p:nvPr/>
        </p:nvSpPr>
        <p:spPr>
          <a:xfrm>
            <a:off x="5994545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8553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29</a:t>
            </a:r>
            <a:endParaRPr lang="en-US" sz="1000" dirty="0"/>
          </a:p>
        </p:txBody>
      </p:sp>
      <p:sp>
        <p:nvSpPr>
          <p:cNvPr id="35" name="celula-30/10"/>
          <p:cNvSpPr/>
          <p:nvPr/>
        </p:nvSpPr>
        <p:spPr>
          <a:xfrm>
            <a:off x="7383127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47135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30</a:t>
            </a:r>
            <a:endParaRPr lang="en-US" sz="1000" dirty="0"/>
          </a:p>
        </p:txBody>
      </p:sp>
      <p:sp>
        <p:nvSpPr>
          <p:cNvPr id="37" name="celula-31/10"/>
          <p:cNvSpPr/>
          <p:nvPr/>
        </p:nvSpPr>
        <p:spPr>
          <a:xfrm>
            <a:off x="8771709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35717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31</a:t>
            </a:r>
            <a:endParaRPr lang="en-US" sz="1000" dirty="0"/>
          </a:p>
        </p:txBody>
      </p:sp>
      <p:sp>
        <p:nvSpPr>
          <p:cNvPr id="39" name="celula-01/11"/>
          <p:cNvSpPr/>
          <p:nvPr/>
        </p:nvSpPr>
        <p:spPr>
          <a:xfrm>
            <a:off x="10160290" y="193852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24298" y="1975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224298" y="2194560"/>
            <a:ext cx="12605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Início do Novembro Azul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2706624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02/11 a 06/11</a:t>
            </a:r>
            <a:endParaRPr lang="en-US" sz="1400" dirty="0"/>
          </a:p>
        </p:txBody>
      </p:sp>
      <p:sp>
        <p:nvSpPr>
          <p:cNvPr id="43" name="celula-02/11"/>
          <p:cNvSpPr/>
          <p:nvPr/>
        </p:nvSpPr>
        <p:spPr>
          <a:xfrm>
            <a:off x="1828800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92808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892808" y="2962656"/>
            <a:ext cx="12605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Finados</a:t>
            </a:r>
            <a:endParaRPr lang="en-US" sz="1000" dirty="0"/>
          </a:p>
        </p:txBody>
      </p:sp>
      <p:sp>
        <p:nvSpPr>
          <p:cNvPr id="46" name="celula-03/11"/>
          <p:cNvSpPr/>
          <p:nvPr/>
        </p:nvSpPr>
        <p:spPr>
          <a:xfrm>
            <a:off x="3217382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8139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03</a:t>
            </a:r>
            <a:endParaRPr lang="en-US" sz="1000" dirty="0"/>
          </a:p>
        </p:txBody>
      </p:sp>
      <p:sp>
        <p:nvSpPr>
          <p:cNvPr id="48" name="post-3"/>
          <p:cNvSpPr/>
          <p:nvPr/>
        </p:nvSpPr>
        <p:spPr>
          <a:xfrm>
            <a:off x="3281390" y="2926080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308822" y="2944368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Como funciona o cuidado na prática?</a:t>
            </a:r>
            <a:endParaRPr lang="en-US" sz="1000" dirty="0"/>
          </a:p>
        </p:txBody>
      </p:sp>
      <p:sp>
        <p:nvSpPr>
          <p:cNvPr id="50" name="tipo-3"/>
          <p:cNvSpPr/>
          <p:nvPr/>
        </p:nvSpPr>
        <p:spPr>
          <a:xfrm>
            <a:off x="4340787" y="2962656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40787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52" name="celula-04/11"/>
          <p:cNvSpPr/>
          <p:nvPr/>
        </p:nvSpPr>
        <p:spPr>
          <a:xfrm>
            <a:off x="4605963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669971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04</a:t>
            </a:r>
            <a:endParaRPr lang="en-US" sz="1000" dirty="0"/>
          </a:p>
        </p:txBody>
      </p:sp>
      <p:sp>
        <p:nvSpPr>
          <p:cNvPr id="54" name="post-4"/>
          <p:cNvSpPr/>
          <p:nvPr/>
        </p:nvSpPr>
        <p:spPr>
          <a:xfrm>
            <a:off x="4669971" y="2926080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697403" y="2944368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Quatro frentes, um cuidado conectado</a:t>
            </a:r>
            <a:endParaRPr lang="en-US" sz="1000" dirty="0"/>
          </a:p>
        </p:txBody>
      </p:sp>
      <p:sp>
        <p:nvSpPr>
          <p:cNvPr id="56" name="tipo-4"/>
          <p:cNvSpPr/>
          <p:nvPr/>
        </p:nvSpPr>
        <p:spPr>
          <a:xfrm>
            <a:off x="5729369" y="2962656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729369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58" name="celula-05/11"/>
          <p:cNvSpPr/>
          <p:nvPr/>
        </p:nvSpPr>
        <p:spPr>
          <a:xfrm>
            <a:off x="5994545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8553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05</a:t>
            </a:r>
            <a:endParaRPr lang="en-US" sz="1000" dirty="0"/>
          </a:p>
        </p:txBody>
      </p:sp>
      <p:sp>
        <p:nvSpPr>
          <p:cNvPr id="60" name="celula-06/11"/>
          <p:cNvSpPr/>
          <p:nvPr/>
        </p:nvSpPr>
        <p:spPr>
          <a:xfrm>
            <a:off x="7383127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447135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06</a:t>
            </a:r>
            <a:endParaRPr lang="en-US" sz="1000" dirty="0"/>
          </a:p>
        </p:txBody>
      </p:sp>
      <p:sp>
        <p:nvSpPr>
          <p:cNvPr id="62" name="post-6"/>
          <p:cNvSpPr/>
          <p:nvPr/>
        </p:nvSpPr>
        <p:spPr>
          <a:xfrm>
            <a:off x="7447135" y="2926080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474567" y="2944368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Uma história de cuidado desde 2009</a:t>
            </a:r>
            <a:endParaRPr lang="en-US" sz="1000" dirty="0"/>
          </a:p>
        </p:txBody>
      </p:sp>
      <p:sp>
        <p:nvSpPr>
          <p:cNvPr id="64" name="tipo-6"/>
          <p:cNvSpPr/>
          <p:nvPr/>
        </p:nvSpPr>
        <p:spPr>
          <a:xfrm>
            <a:off x="8506533" y="2962656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506533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I</a:t>
            </a:r>
            <a:endParaRPr lang="en-US" sz="800" dirty="0"/>
          </a:p>
        </p:txBody>
      </p:sp>
      <p:sp>
        <p:nvSpPr>
          <p:cNvPr id="66" name="celula-07/11"/>
          <p:cNvSpPr/>
          <p:nvPr/>
        </p:nvSpPr>
        <p:spPr>
          <a:xfrm>
            <a:off x="8771709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835717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07</a:t>
            </a:r>
            <a:endParaRPr lang="en-US" sz="1000" dirty="0"/>
          </a:p>
        </p:txBody>
      </p:sp>
      <p:sp>
        <p:nvSpPr>
          <p:cNvPr id="68" name="celula-08/11"/>
          <p:cNvSpPr/>
          <p:nvPr/>
        </p:nvSpPr>
        <p:spPr>
          <a:xfrm>
            <a:off x="10160290" y="2706624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224298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08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3474720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09/11 a 13/11</a:t>
            </a:r>
            <a:endParaRPr lang="en-US" sz="1400" dirty="0"/>
          </a:p>
        </p:txBody>
      </p:sp>
      <p:sp>
        <p:nvSpPr>
          <p:cNvPr id="71" name="celula-09/11"/>
          <p:cNvSpPr/>
          <p:nvPr/>
        </p:nvSpPr>
        <p:spPr>
          <a:xfrm>
            <a:off x="1828800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892808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09</a:t>
            </a:r>
            <a:endParaRPr lang="en-US" sz="1000" dirty="0"/>
          </a:p>
        </p:txBody>
      </p:sp>
      <p:sp>
        <p:nvSpPr>
          <p:cNvPr id="73" name="post-9"/>
          <p:cNvSpPr/>
          <p:nvPr/>
        </p:nvSpPr>
        <p:spPr>
          <a:xfrm>
            <a:off x="1892808" y="3694176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920240" y="3712464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Cuidado na prática: resultados reais</a:t>
            </a:r>
            <a:endParaRPr lang="en-US" sz="1000" dirty="0"/>
          </a:p>
        </p:txBody>
      </p:sp>
      <p:sp>
        <p:nvSpPr>
          <p:cNvPr id="75" name="tipo-9"/>
          <p:cNvSpPr/>
          <p:nvPr/>
        </p:nvSpPr>
        <p:spPr>
          <a:xfrm>
            <a:off x="2952206" y="3730752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952206" y="3730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77" name="celula-10/11"/>
          <p:cNvSpPr/>
          <p:nvPr/>
        </p:nvSpPr>
        <p:spPr>
          <a:xfrm>
            <a:off x="3217382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281390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79" name="celula-11/11"/>
          <p:cNvSpPr/>
          <p:nvPr/>
        </p:nvSpPr>
        <p:spPr>
          <a:xfrm>
            <a:off x="4605963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669971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81" name="post-11"/>
          <p:cNvSpPr/>
          <p:nvPr/>
        </p:nvSpPr>
        <p:spPr>
          <a:xfrm>
            <a:off x="4669971" y="3694176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697403" y="3712464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Estilo de vida também é tratamento sério</a:t>
            </a:r>
            <a:endParaRPr lang="en-US" sz="1000" dirty="0"/>
          </a:p>
        </p:txBody>
      </p:sp>
      <p:sp>
        <p:nvSpPr>
          <p:cNvPr id="83" name="tipo-11"/>
          <p:cNvSpPr/>
          <p:nvPr/>
        </p:nvSpPr>
        <p:spPr>
          <a:xfrm>
            <a:off x="5729369" y="3730752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729369" y="3730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85" name="celula-12/11"/>
          <p:cNvSpPr/>
          <p:nvPr/>
        </p:nvSpPr>
        <p:spPr>
          <a:xfrm>
            <a:off x="5994545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058553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87" name="celula-13/11"/>
          <p:cNvSpPr/>
          <p:nvPr/>
        </p:nvSpPr>
        <p:spPr>
          <a:xfrm>
            <a:off x="7383127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447135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89" name="post-13"/>
          <p:cNvSpPr/>
          <p:nvPr/>
        </p:nvSpPr>
        <p:spPr>
          <a:xfrm>
            <a:off x="7447135" y="3694176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474567" y="3712464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Como levar a FairHealth para sua empresa?</a:t>
            </a:r>
            <a:endParaRPr lang="en-US" sz="1000" dirty="0"/>
          </a:p>
        </p:txBody>
      </p:sp>
      <p:sp>
        <p:nvSpPr>
          <p:cNvPr id="91" name="tipo-13"/>
          <p:cNvSpPr/>
          <p:nvPr/>
        </p:nvSpPr>
        <p:spPr>
          <a:xfrm>
            <a:off x="8506533" y="3730752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506533" y="3730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93" name="celula-14/11"/>
          <p:cNvSpPr/>
          <p:nvPr/>
        </p:nvSpPr>
        <p:spPr>
          <a:xfrm>
            <a:off x="8771709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835717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8835717" y="3730752"/>
            <a:ext cx="12605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Dia Mundial do Diabetes</a:t>
            </a:r>
            <a:endParaRPr lang="en-US" sz="1000" dirty="0"/>
          </a:p>
        </p:txBody>
      </p:sp>
      <p:sp>
        <p:nvSpPr>
          <p:cNvPr id="96" name="celula-15/11"/>
          <p:cNvSpPr/>
          <p:nvPr/>
        </p:nvSpPr>
        <p:spPr>
          <a:xfrm>
            <a:off x="10160290" y="3474720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224298" y="35112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10224298" y="3730752"/>
            <a:ext cx="12605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Proclamação da República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640080" y="4242816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5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16/11 a 20/11</a:t>
            </a:r>
            <a:endParaRPr lang="en-US" sz="1400" dirty="0"/>
          </a:p>
        </p:txBody>
      </p:sp>
      <p:sp>
        <p:nvSpPr>
          <p:cNvPr id="100" name="celula-16/11"/>
          <p:cNvSpPr/>
          <p:nvPr/>
        </p:nvSpPr>
        <p:spPr>
          <a:xfrm>
            <a:off x="1828800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892808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102" name="post-16"/>
          <p:cNvSpPr/>
          <p:nvPr/>
        </p:nvSpPr>
        <p:spPr>
          <a:xfrm>
            <a:off x="1892808" y="4462272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920240" y="4480560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Novembro Azul: ele só vai ao médico quando dói</a:t>
            </a:r>
            <a:endParaRPr lang="en-US" sz="1000" dirty="0"/>
          </a:p>
        </p:txBody>
      </p:sp>
      <p:sp>
        <p:nvSpPr>
          <p:cNvPr id="104" name="tipo-16"/>
          <p:cNvSpPr/>
          <p:nvPr/>
        </p:nvSpPr>
        <p:spPr>
          <a:xfrm>
            <a:off x="2952206" y="4498848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952206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E</a:t>
            </a:r>
            <a:endParaRPr lang="en-US" sz="800" dirty="0"/>
          </a:p>
        </p:txBody>
      </p:sp>
      <p:sp>
        <p:nvSpPr>
          <p:cNvPr id="106" name="celula-17/11"/>
          <p:cNvSpPr/>
          <p:nvPr/>
        </p:nvSpPr>
        <p:spPr>
          <a:xfrm>
            <a:off x="3217382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3281390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108" name="celula-18/11"/>
          <p:cNvSpPr/>
          <p:nvPr/>
        </p:nvSpPr>
        <p:spPr>
          <a:xfrm>
            <a:off x="4605963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669971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110" name="post-18"/>
          <p:cNvSpPr/>
          <p:nvPr/>
        </p:nvSpPr>
        <p:spPr>
          <a:xfrm>
            <a:off x="4669971" y="4462272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697403" y="4480560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Afastamentos por saúde mental e a NR-01</a:t>
            </a:r>
            <a:endParaRPr lang="en-US" sz="1000" dirty="0"/>
          </a:p>
        </p:txBody>
      </p:sp>
      <p:sp>
        <p:nvSpPr>
          <p:cNvPr id="112" name="tipo-18"/>
          <p:cNvSpPr/>
          <p:nvPr/>
        </p:nvSpPr>
        <p:spPr>
          <a:xfrm>
            <a:off x="5729369" y="4498848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729369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114" name="celula-19/11"/>
          <p:cNvSpPr/>
          <p:nvPr/>
        </p:nvSpPr>
        <p:spPr>
          <a:xfrm>
            <a:off x="5994545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058553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116" name="post-19"/>
          <p:cNvSpPr/>
          <p:nvPr/>
        </p:nvSpPr>
        <p:spPr>
          <a:xfrm>
            <a:off x="6058553" y="4462272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6085985" y="4480560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Depoimento: “Os meus hábitos mudaram”</a:t>
            </a:r>
            <a:endParaRPr lang="en-US" sz="1000" dirty="0"/>
          </a:p>
        </p:txBody>
      </p:sp>
      <p:sp>
        <p:nvSpPr>
          <p:cNvPr id="118" name="tipo-19"/>
          <p:cNvSpPr/>
          <p:nvPr/>
        </p:nvSpPr>
        <p:spPr>
          <a:xfrm>
            <a:off x="7117951" y="4498848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117951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120" name="celula-20/11"/>
          <p:cNvSpPr/>
          <p:nvPr/>
        </p:nvSpPr>
        <p:spPr>
          <a:xfrm>
            <a:off x="7383127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7447135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122" name="Text 120"/>
          <p:cNvSpPr txBox="1"/>
          <p:nvPr/>
        </p:nvSpPr>
        <p:spPr>
          <a:xfrm>
            <a:off x="7447135" y="4498848"/>
            <a:ext cx="12605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Consciência Negra (feriado)</a:t>
            </a:r>
            <a:endParaRPr lang="en-US" sz="1000" dirty="0"/>
          </a:p>
        </p:txBody>
      </p:sp>
      <p:sp>
        <p:nvSpPr>
          <p:cNvPr id="123" name="celula-21/11"/>
          <p:cNvSpPr/>
          <p:nvPr/>
        </p:nvSpPr>
        <p:spPr>
          <a:xfrm>
            <a:off x="8771709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835717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125" name="celula-22/11"/>
          <p:cNvSpPr/>
          <p:nvPr/>
        </p:nvSpPr>
        <p:spPr>
          <a:xfrm>
            <a:off x="10160290" y="4242816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224298" y="4279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127" name="Text 125"/>
          <p:cNvSpPr txBox="1"/>
          <p:nvPr/>
        </p:nvSpPr>
        <p:spPr>
          <a:xfrm>
            <a:off x="640080" y="5010912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6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23/11 a 27/11</a:t>
            </a:r>
            <a:endParaRPr lang="en-US" sz="1400" dirty="0"/>
          </a:p>
        </p:txBody>
      </p:sp>
      <p:sp>
        <p:nvSpPr>
          <p:cNvPr id="128" name="celula-23/11"/>
          <p:cNvSpPr/>
          <p:nvPr/>
        </p:nvSpPr>
        <p:spPr>
          <a:xfrm>
            <a:off x="1828800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892808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130" name="post-23"/>
          <p:cNvSpPr/>
          <p:nvPr/>
        </p:nvSpPr>
        <p:spPr>
          <a:xfrm>
            <a:off x="1892808" y="5230368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920240" y="5248656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 RH cuida de todo mundo. Quem cuida do RH?</a:t>
            </a:r>
            <a:endParaRPr lang="en-US" sz="1000" dirty="0"/>
          </a:p>
        </p:txBody>
      </p:sp>
      <p:sp>
        <p:nvSpPr>
          <p:cNvPr id="132" name="tipo-23"/>
          <p:cNvSpPr/>
          <p:nvPr/>
        </p:nvSpPr>
        <p:spPr>
          <a:xfrm>
            <a:off x="2952206" y="5266944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2952206" y="5266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134" name="celula-24/11"/>
          <p:cNvSpPr/>
          <p:nvPr/>
        </p:nvSpPr>
        <p:spPr>
          <a:xfrm>
            <a:off x="3217382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3281390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136" name="celula-25/11"/>
          <p:cNvSpPr/>
          <p:nvPr/>
        </p:nvSpPr>
        <p:spPr>
          <a:xfrm>
            <a:off x="4605963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4669971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138" name="post-25"/>
          <p:cNvSpPr/>
          <p:nvPr/>
        </p:nvSpPr>
        <p:spPr>
          <a:xfrm>
            <a:off x="4669971" y="5230368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4697403" y="5248656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Por que a Geração Z está tão desconectada do trabalho?</a:t>
            </a:r>
            <a:endParaRPr lang="en-US" sz="1000" dirty="0"/>
          </a:p>
        </p:txBody>
      </p:sp>
      <p:sp>
        <p:nvSpPr>
          <p:cNvPr id="140" name="tipo-25"/>
          <p:cNvSpPr/>
          <p:nvPr/>
        </p:nvSpPr>
        <p:spPr>
          <a:xfrm>
            <a:off x="5729369" y="5266944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729369" y="5266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142" name="celula-26/11"/>
          <p:cNvSpPr/>
          <p:nvPr/>
        </p:nvSpPr>
        <p:spPr>
          <a:xfrm>
            <a:off x="5994545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6058553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144" name="celula-27/11"/>
          <p:cNvSpPr/>
          <p:nvPr/>
        </p:nvSpPr>
        <p:spPr>
          <a:xfrm>
            <a:off x="7383127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7447135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146" name="post-27"/>
          <p:cNvSpPr/>
          <p:nvPr/>
        </p:nvSpPr>
        <p:spPr>
          <a:xfrm>
            <a:off x="7447135" y="5230368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7474567" y="5248656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Case Chemitec: 98% de adesão</a:t>
            </a:r>
            <a:endParaRPr lang="en-US" sz="1000" dirty="0"/>
          </a:p>
        </p:txBody>
      </p:sp>
      <p:sp>
        <p:nvSpPr>
          <p:cNvPr id="148" name="tipo-27"/>
          <p:cNvSpPr/>
          <p:nvPr/>
        </p:nvSpPr>
        <p:spPr>
          <a:xfrm>
            <a:off x="8506533" y="5266944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8506533" y="5266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P</a:t>
            </a:r>
            <a:endParaRPr lang="en-US" sz="800" dirty="0"/>
          </a:p>
        </p:txBody>
      </p:sp>
      <p:sp>
        <p:nvSpPr>
          <p:cNvPr id="150" name="celula-28/11"/>
          <p:cNvSpPr/>
          <p:nvPr/>
        </p:nvSpPr>
        <p:spPr>
          <a:xfrm>
            <a:off x="8771709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8835717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152" name="celula-29/11"/>
          <p:cNvSpPr/>
          <p:nvPr/>
        </p:nvSpPr>
        <p:spPr>
          <a:xfrm>
            <a:off x="10160290" y="5010912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0224298" y="5047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640080" y="5779008"/>
            <a:ext cx="1143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30/11 a 04/12</a:t>
            </a:r>
            <a:endParaRPr lang="en-US" sz="1400" dirty="0"/>
          </a:p>
        </p:txBody>
      </p:sp>
      <p:sp>
        <p:nvSpPr>
          <p:cNvPr id="155" name="celula-30/11"/>
          <p:cNvSpPr/>
          <p:nvPr/>
        </p:nvSpPr>
        <p:spPr>
          <a:xfrm>
            <a:off x="1828800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892808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157" name="post-30"/>
          <p:cNvSpPr/>
          <p:nvPr/>
        </p:nvSpPr>
        <p:spPr>
          <a:xfrm>
            <a:off x="1892808" y="5998464"/>
            <a:ext cx="1260566" cy="493776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920240" y="6016752"/>
            <a:ext cx="1004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Dezembro chegou: a corrida das metas também adoece</a:t>
            </a:r>
            <a:endParaRPr lang="en-US" sz="1000" dirty="0"/>
          </a:p>
        </p:txBody>
      </p:sp>
      <p:sp>
        <p:nvSpPr>
          <p:cNvPr id="159" name="tipo-30"/>
          <p:cNvSpPr/>
          <p:nvPr/>
        </p:nvSpPr>
        <p:spPr>
          <a:xfrm>
            <a:off x="2952206" y="6035040"/>
            <a:ext cx="164592" cy="1645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2952206" y="6035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E</a:t>
            </a:r>
            <a:endParaRPr lang="en-US" sz="800" dirty="0"/>
          </a:p>
        </p:txBody>
      </p:sp>
      <p:sp>
        <p:nvSpPr>
          <p:cNvPr id="161" name="celula-01/12"/>
          <p:cNvSpPr/>
          <p:nvPr/>
        </p:nvSpPr>
        <p:spPr>
          <a:xfrm>
            <a:off x="3217382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281390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01</a:t>
            </a:r>
            <a:endParaRPr lang="en-US" sz="1000" dirty="0"/>
          </a:p>
        </p:txBody>
      </p:sp>
      <p:sp>
        <p:nvSpPr>
          <p:cNvPr id="163" name="celula-02/12"/>
          <p:cNvSpPr/>
          <p:nvPr/>
        </p:nvSpPr>
        <p:spPr>
          <a:xfrm>
            <a:off x="4605963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669971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02</a:t>
            </a:r>
            <a:endParaRPr lang="en-US" sz="1000" dirty="0"/>
          </a:p>
        </p:txBody>
      </p:sp>
      <p:sp>
        <p:nvSpPr>
          <p:cNvPr id="165" name="celula-03/12"/>
          <p:cNvSpPr/>
          <p:nvPr/>
        </p:nvSpPr>
        <p:spPr>
          <a:xfrm>
            <a:off x="5994545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6058553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03</a:t>
            </a:r>
            <a:endParaRPr lang="en-US" sz="1000" dirty="0"/>
          </a:p>
        </p:txBody>
      </p:sp>
      <p:sp>
        <p:nvSpPr>
          <p:cNvPr id="167" name="celula-04/12"/>
          <p:cNvSpPr/>
          <p:nvPr/>
        </p:nvSpPr>
        <p:spPr>
          <a:xfrm>
            <a:off x="7383127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7447135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04</a:t>
            </a:r>
            <a:endParaRPr lang="en-US" sz="1000" dirty="0"/>
          </a:p>
        </p:txBody>
      </p:sp>
      <p:sp>
        <p:nvSpPr>
          <p:cNvPr id="169" name="celula-05/12"/>
          <p:cNvSpPr/>
          <p:nvPr/>
        </p:nvSpPr>
        <p:spPr>
          <a:xfrm>
            <a:off x="8771709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8835717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05</a:t>
            </a:r>
            <a:endParaRPr lang="en-US" sz="1000" dirty="0"/>
          </a:p>
        </p:txBody>
      </p:sp>
      <p:sp>
        <p:nvSpPr>
          <p:cNvPr id="171" name="celula-06/12"/>
          <p:cNvSpPr/>
          <p:nvPr/>
        </p:nvSpPr>
        <p:spPr>
          <a:xfrm>
            <a:off x="10160290" y="5779008"/>
            <a:ext cx="1388582" cy="768096"/>
          </a:xfrm>
          <a:prstGeom prst="rect">
            <a:avLst/>
          </a:prstGeom>
          <a:solidFill>
            <a:schemeClr val="bg2"/>
          </a:solidFill>
          <a:ln w="9525">
            <a:solidFill>
              <a:srgbClr val="A9CFC6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0224298" y="5815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4C1"/>
                </a:solidFill>
              </a:rPr>
              <a:t>06</a:t>
            </a:r>
            <a:endParaRPr lang="en-US" sz="1000" dirty="0"/>
          </a:p>
        </p:txBody>
      </p:sp>
      <p:sp>
        <p:nvSpPr>
          <p:cNvPr id="173" name="Text 171"/>
          <p:cNvSpPr txBox="1"/>
          <p:nvPr/>
        </p:nvSpPr>
        <p:spPr>
          <a:xfrm>
            <a:off x="1828800" y="6556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 reels  ·  7 carrosséis  ·  1 foto única  ·  1 reel e 2 posts estáticos por semana  ·  feriados sem post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Semana 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03 a 06/11</a:t>
            </a:r>
            <a:endParaRPr lang="en-US" sz="2200" dirty="0"/>
          </a:p>
        </p:txBody>
      </p:sp>
      <p:sp>
        <p:nvSpPr>
          <p:cNvPr id="4" name="periodo"/>
          <p:cNvSpPr/>
          <p:nvPr/>
        </p:nvSpPr>
        <p:spPr>
          <a:xfrm>
            <a:off x="640080" y="6144768"/>
            <a:ext cx="1609344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1447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01/11 A 30/11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73152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Compreensão e começo da confiança. O cuidado na prática, as quatro frentes conectadas e a trajetória do método.</a:t>
            </a:r>
            <a:endParaRPr lang="en-US" sz="1400" dirty="0"/>
          </a:p>
        </p:txBody>
      </p:sp>
      <p:sp>
        <p:nvSpPr>
          <p:cNvPr id="7" name="cartao-3"/>
          <p:cNvSpPr/>
          <p:nvPr/>
        </p:nvSpPr>
        <p:spPr>
          <a:xfrm>
            <a:off x="640080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icone-fundo-3"/>
          <p:cNvSpPr/>
          <p:nvPr/>
        </p:nvSpPr>
        <p:spPr>
          <a:xfrm>
            <a:off x="91440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terça, 03/11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funciona o cuidado na prática?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jornada entre escuta, atendimento, plano individualizado e acompanhamento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a definir</a:t>
            </a:r>
            <a:endParaRPr lang="en-US" sz="1100" dirty="0"/>
          </a:p>
        </p:txBody>
      </p:sp>
      <p:sp>
        <p:nvSpPr>
          <p:cNvPr id="15" name="cartao-4"/>
          <p:cNvSpPr/>
          <p:nvPr/>
        </p:nvSpPr>
        <p:spPr>
          <a:xfrm>
            <a:off x="4370832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icone-fundo-4"/>
          <p:cNvSpPr/>
          <p:nvPr/>
        </p:nvSpPr>
        <p:spPr>
          <a:xfrm>
            <a:off x="4645152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06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30952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Reel  ·  bloco 3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45152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quarta, 04/11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645152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Quatro frentes, um cuidado conectado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645152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Medicina do Estilo de Vida, Escritório do Cuidado, plataforma e wearables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45152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a definir</a:t>
            </a:r>
            <a:endParaRPr lang="en-US" sz="1100" dirty="0"/>
          </a:p>
        </p:txBody>
      </p:sp>
      <p:sp>
        <p:nvSpPr>
          <p:cNvPr id="23" name="cartao-6"/>
          <p:cNvSpPr/>
          <p:nvPr/>
        </p:nvSpPr>
        <p:spPr>
          <a:xfrm>
            <a:off x="8101584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icone-fundo-6"/>
          <p:cNvSpPr/>
          <p:nvPr/>
        </p:nvSpPr>
        <p:spPr>
          <a:xfrm>
            <a:off x="8375904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6060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61704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75904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sexta, 06/11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75904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Uma história de cuidado que começou em 2009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75904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Linha do tempo da metodologia e evolução até a FairHealth (validar com o Dr. Ronald)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375904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Institucional  · 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a definir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Semana 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09 a 13/11</a:t>
            </a:r>
            <a:endParaRPr lang="en-US" sz="2200" dirty="0"/>
          </a:p>
        </p:txBody>
      </p:sp>
      <p:sp>
        <p:nvSpPr>
          <p:cNvPr id="4" name="periodo"/>
          <p:cNvSpPr/>
          <p:nvPr/>
        </p:nvSpPr>
        <p:spPr>
          <a:xfrm>
            <a:off x="640080" y="6144768"/>
            <a:ext cx="1609344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1447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01/11 A 30/11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73152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Confiança. Resultados reais, a ciência por trás do cuidado e o convite para o RH.</a:t>
            </a:r>
            <a:endParaRPr lang="en-US" sz="1400" dirty="0"/>
          </a:p>
        </p:txBody>
      </p:sp>
      <p:sp>
        <p:nvSpPr>
          <p:cNvPr id="7" name="cartao-9"/>
          <p:cNvSpPr/>
          <p:nvPr/>
        </p:nvSpPr>
        <p:spPr>
          <a:xfrm>
            <a:off x="640080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icone-fundo-9"/>
          <p:cNvSpPr/>
          <p:nvPr/>
        </p:nvSpPr>
        <p:spPr>
          <a:xfrm>
            <a:off x="91440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Reel  ·  bloco 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segunda, 09/11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Cuidado na prática: experiências e resultados reais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Evidências e resultados documentados, contados pelo Dr. Ronald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a definir</a:t>
            </a:r>
            <a:endParaRPr lang="en-US" sz="1100" dirty="0"/>
          </a:p>
        </p:txBody>
      </p:sp>
      <p:sp>
        <p:nvSpPr>
          <p:cNvPr id="15" name="cartao-11"/>
          <p:cNvSpPr/>
          <p:nvPr/>
        </p:nvSpPr>
        <p:spPr>
          <a:xfrm>
            <a:off x="4370832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icone-fundo-11"/>
          <p:cNvSpPr/>
          <p:nvPr/>
        </p:nvSpPr>
        <p:spPr>
          <a:xfrm>
            <a:off x="4645152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06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30952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4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45152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quarta, 11/11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645152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Estilo de vida também é tratamento sério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645152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que a ciência mostra sobre mudar a rotina, na semana do Dia Mundial do Diabetes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45152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Cultura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a definir</a:t>
            </a:r>
            <a:endParaRPr lang="en-US" sz="1100" dirty="0"/>
          </a:p>
        </p:txBody>
      </p:sp>
      <p:sp>
        <p:nvSpPr>
          <p:cNvPr id="23" name="cartao-13"/>
          <p:cNvSpPr/>
          <p:nvPr/>
        </p:nvSpPr>
        <p:spPr>
          <a:xfrm>
            <a:off x="8101584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icone-fundo-13"/>
          <p:cNvSpPr/>
          <p:nvPr/>
        </p:nvSpPr>
        <p:spPr>
          <a:xfrm>
            <a:off x="8375904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6060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61704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75904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sexta, 13/11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75904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levar a FairHealth para sua empresa?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75904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Encerramento da apresentação inicial com orientação para o RH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375904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 (comercial)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Semana 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16 a 19/11</a:t>
            </a:r>
            <a:endParaRPr lang="en-US" sz="2200" dirty="0"/>
          </a:p>
        </p:txBody>
      </p:sp>
      <p:sp>
        <p:nvSpPr>
          <p:cNvPr id="4" name="periodo"/>
          <p:cNvSpPr/>
          <p:nvPr/>
        </p:nvSpPr>
        <p:spPr>
          <a:xfrm>
            <a:off x="640080" y="6144768"/>
            <a:ext cx="1609344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1447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01/11 A 30/11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73152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Atualidade. Novembro Azul, NR-01 e a voz de quem é cuidado: temas do momento que levam ao Escritório do Cuidado. Sexta, 20/11, é feriado.</a:t>
            </a:r>
            <a:endParaRPr lang="en-US" sz="1400" dirty="0"/>
          </a:p>
        </p:txBody>
      </p:sp>
      <p:sp>
        <p:nvSpPr>
          <p:cNvPr id="7" name="cartao-16"/>
          <p:cNvSpPr/>
          <p:nvPr/>
        </p:nvSpPr>
        <p:spPr>
          <a:xfrm>
            <a:off x="640080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icone-fundo-16"/>
          <p:cNvSpPr/>
          <p:nvPr/>
        </p:nvSpPr>
        <p:spPr>
          <a:xfrm>
            <a:off x="91440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Reel  ·  bloco 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segunda, 16/11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 só vai ao médico quando dói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Novembro Azul: o homem não deixa de se cuidar por descuido, e sim porque cuidar dá trabalho. Com o cuidado dentro da empresa, a barreira cai o ano todo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Evento  ·  Cultura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</a:t>
            </a:r>
            <a:endParaRPr lang="en-US" sz="1100" dirty="0"/>
          </a:p>
        </p:txBody>
      </p:sp>
      <p:sp>
        <p:nvSpPr>
          <p:cNvPr id="15" name="cartao-18"/>
          <p:cNvSpPr/>
          <p:nvPr/>
        </p:nvSpPr>
        <p:spPr>
          <a:xfrm>
            <a:off x="4370832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icone-fundo-18"/>
          <p:cNvSpPr/>
          <p:nvPr/>
        </p:nvSpPr>
        <p:spPr>
          <a:xfrm>
            <a:off x="4645152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06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30952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5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45152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quarta, 18/11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645152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Recorde de afastamentos por saúde mental: o que a NR-01 cobra do RH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645152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546,2 mil licenças em 2025 e a gestão de riscos psicossociais além da planilha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45152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Notícias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 e receba o guia de NR-01</a:t>
            </a:r>
            <a:endParaRPr lang="en-US" sz="1100" dirty="0"/>
          </a:p>
        </p:txBody>
      </p:sp>
      <p:sp>
        <p:nvSpPr>
          <p:cNvPr id="23" name="cartao-19"/>
          <p:cNvSpPr/>
          <p:nvPr/>
        </p:nvSpPr>
        <p:spPr>
          <a:xfrm>
            <a:off x="8101584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icone-fundo-19"/>
          <p:cNvSpPr/>
          <p:nvPr/>
        </p:nvSpPr>
        <p:spPr>
          <a:xfrm>
            <a:off x="8375904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Foto ún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6060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61704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Foto única  ·  bloco 5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75904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quinta, 19/11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75904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“Os meus hábitos mudaram, e não foi um sacrifício.”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75904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voz de quem é cuidado: mudança real, sem promessa de resultado clínico. Entra na quinta porque sexta é feriado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375904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nenhuma (post de prova)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Semana 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23 a 27/11</a:t>
            </a:r>
            <a:endParaRPr lang="en-US" sz="2200" dirty="0"/>
          </a:p>
        </p:txBody>
      </p:sp>
      <p:sp>
        <p:nvSpPr>
          <p:cNvPr id="4" name="periodo"/>
          <p:cNvSpPr/>
          <p:nvPr/>
        </p:nvSpPr>
        <p:spPr>
          <a:xfrm>
            <a:off x="640080" y="6144768"/>
            <a:ext cx="1609344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1447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01/11 A 30/11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73152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Atualidade e decisão. Quem cuida do RH, a desconexão dos jovens e a prova da Chemitec, com o convite ao diagnóstico.</a:t>
            </a:r>
            <a:endParaRPr lang="en-US" sz="1400" dirty="0"/>
          </a:p>
        </p:txBody>
      </p:sp>
      <p:sp>
        <p:nvSpPr>
          <p:cNvPr id="7" name="cartao-23"/>
          <p:cNvSpPr/>
          <p:nvPr/>
        </p:nvSpPr>
        <p:spPr>
          <a:xfrm>
            <a:off x="640080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icone-fundo-23"/>
          <p:cNvSpPr/>
          <p:nvPr/>
        </p:nvSpPr>
        <p:spPr>
          <a:xfrm>
            <a:off x="91440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Reel  ·  bloco 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segunda, 23/11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 RH cuida de todo mundo. Quem cuida do RH?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Dados do Panorama da Saúde Emocional do RH 2026 e o cuidado que chega também a quem cuida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Notícias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Mande para alguém do RH</a:t>
            </a:r>
            <a:endParaRPr lang="en-US" sz="1100" dirty="0"/>
          </a:p>
        </p:txBody>
      </p:sp>
      <p:sp>
        <p:nvSpPr>
          <p:cNvPr id="15" name="cartao-25"/>
          <p:cNvSpPr/>
          <p:nvPr/>
        </p:nvSpPr>
        <p:spPr>
          <a:xfrm>
            <a:off x="4370832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icone-fundo-25"/>
          <p:cNvSpPr/>
          <p:nvPr/>
        </p:nvSpPr>
        <p:spPr>
          <a:xfrm>
            <a:off x="4645152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06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30952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5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45152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quarta, 25/11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645152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 que a Geração Z está tão desconectada do trabalho?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645152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Não é preguiça nem falta de compromisso. A resposta começa com a pergunta que quase ninguém faz: o que importa para você?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45152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Cultura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</a:t>
            </a:r>
            <a:endParaRPr lang="en-US" sz="1100" dirty="0"/>
          </a:p>
        </p:txBody>
      </p:sp>
      <p:sp>
        <p:nvSpPr>
          <p:cNvPr id="23" name="cartao-27"/>
          <p:cNvSpPr/>
          <p:nvPr/>
        </p:nvSpPr>
        <p:spPr>
          <a:xfrm>
            <a:off x="8101584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icone-fundo-27"/>
          <p:cNvSpPr/>
          <p:nvPr/>
        </p:nvSpPr>
        <p:spPr>
          <a:xfrm>
            <a:off x="8375904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6060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061704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Carrossel  ·  bloco 6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75904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sexta, 27/11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75904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Como 98% do time aceitou ser cuidado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75904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Case Chemitec: 161 atendimentos e 81,3% de retorno. Convite ao diagnóstico antes do orçamento de 2027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375904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Produto  · 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 (diagnóstico gratuito)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Semana 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30/11</a:t>
            </a:r>
            <a:endParaRPr lang="en-US" sz="2200" dirty="0"/>
          </a:p>
        </p:txBody>
      </p:sp>
      <p:sp>
        <p:nvSpPr>
          <p:cNvPr id="4" name="periodo"/>
          <p:cNvSpPr/>
          <p:nvPr/>
        </p:nvSpPr>
        <p:spPr>
          <a:xfrm>
            <a:off x="640080" y="6144768"/>
            <a:ext cx="1609344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61447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01/11 A 30/11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731520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Decisão e passagem para dezembro, com o RH fechando o orçamento de 2027.</a:t>
            </a:r>
            <a:endParaRPr lang="en-US" sz="1400" dirty="0"/>
          </a:p>
        </p:txBody>
      </p:sp>
      <p:sp>
        <p:nvSpPr>
          <p:cNvPr id="7" name="cartao-30"/>
          <p:cNvSpPr/>
          <p:nvPr/>
        </p:nvSpPr>
        <p:spPr>
          <a:xfrm>
            <a:off x="640080" y="2240280"/>
            <a:ext cx="3456432" cy="365760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icone-fundo-30"/>
          <p:cNvSpPr/>
          <p:nvPr/>
        </p:nvSpPr>
        <p:spPr>
          <a:xfrm>
            <a:off x="91440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Reel  ·  bloco 6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004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segunda, 30/11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0215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Dezembro chegou: a corrida das metas também adoece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434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Uma prática de 1 minuto para o fim de ano e o convite para cuidar antes de 2027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309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Evento  ·  Cultura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Chamada: Comente CUIDADO</a:t>
            </a:r>
            <a:endParaRPr lang="en-US" sz="1100" dirty="0"/>
          </a:p>
        </p:txBody>
      </p:sp>
      <p:sp>
        <p:nvSpPr>
          <p:cNvPr id="15" name="pendencias"/>
          <p:cNvSpPr/>
          <p:nvPr/>
        </p:nvSpPr>
        <p:spPr>
          <a:xfrm>
            <a:off x="4370832" y="2240280"/>
            <a:ext cx="7178040" cy="3657600"/>
          </a:xfrm>
          <a:prstGeom prst="roundRect">
            <a:avLst>
              <a:gd name="adj" fmla="val 3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36592" y="2560320"/>
            <a:ext cx="644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Para novembro funcionar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736592" y="3108960"/>
            <a:ext cx="6446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Até 13/11: guia de NR-01 pronto e validado pelo Dr. Ronald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Até 13/11: resposta automática da palavra CUIDADO e página do diagnóstico no 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Até 06/11: Chemitec autoriza o uso do nome (e, se topar, post em coautoria)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Revisão técnica dos posts de Novembro Azul, NR-01 e saúde mental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Conferir na fonte original os dados do INSS, da Flash e da pesquisa sobre homens e saúde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Definir quem do comercial responde os contatos em até 24 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health">
  <a:themeElements>
    <a:clrScheme name="fairhealth">
      <a:dk1>
        <a:srgbClr val="1F3B36"/>
      </a:dk1>
      <a:lt1>
        <a:srgbClr val="FFFFFF"/>
      </a:lt1>
      <a:dk2>
        <a:srgbClr val="2F6B64"/>
      </a:dk2>
      <a:lt2>
        <a:srgbClr val="F0F0EA"/>
      </a:lt2>
      <a:accent1>
        <a:srgbClr val="96C3BA"/>
      </a:accent1>
      <a:accent2>
        <a:srgbClr val="C0E1DA"/>
      </a:accent2>
      <a:accent3>
        <a:srgbClr val="1F3B36"/>
      </a:accent3>
      <a:accent4>
        <a:srgbClr val="2F6B64"/>
      </a:accent4>
      <a:accent5>
        <a:srgbClr val="F0F0EA"/>
      </a:accent5>
      <a:accent6>
        <a:srgbClr val="BFE0D9"/>
      </a:accent6>
      <a:hlink>
        <a:srgbClr val="2F6B64"/>
      </a:hlink>
      <a:folHlink>
        <a:srgbClr val="2F6B64"/>
      </a:folHlink>
    </a:clrScheme>
    <a:fontScheme name="fairhealt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do Instagram · novembro 2026</dc:title>
  <dc:subject>PptxGenJS Presentation</dc:subject>
  <dc:creator>FairHealth</dc:creator>
  <cp:lastModifiedBy>FairHealth</cp:lastModifiedBy>
  <cp:revision>1</cp:revision>
  <dcterms:created xsi:type="dcterms:W3CDTF">2026-10-22T20:43:52Z</dcterms:created>
  <dcterms:modified xsi:type="dcterms:W3CDTF">2026-10-22T20:43:52Z</dcterms:modified>
</cp:coreProperties>
</file>