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s blocos" id="{6a65f989-596e-93e8-b59f-c23f559a677a}">
          <p14:sldIdLst>
            <p14:sldId id="256"/>
          </p14:sldIdLst>
        </p14:section>
        <p14:section name="Calendário" id="{258cd972-3398-4b50-7741-608f1c6644b8}">
          <p14:sldIdLst>
            <p14:sldId id="257"/>
          </p14:sldIdLst>
        </p14:section>
        <p14:section name="As semanas" id="{0df9ee56-0bc1-087f-9da7-e8ef14d6e9da}">
          <p14:sldIdLst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blocos contam a marca em sequência: quem somos, por que importa, como funciona e por que acreditar. Já publicados antes desta programação: "O que é a FairHealth?" e "Conheça o Escritório do Cuidado". O post do time segue segurado.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Segunda, quarta e sexta; na semana de Finados (02/11), terça, quarta e sexta. As duas falas do Dr. Ronald podem ser gravadas no mesmo dia. Já prontos: o post de 21/10, "Prevenção também é investimento" e o roteiro de 11/11.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validar: Reel do Dr. Ronald: autorização de uso de imagem (exceção à decisão de não ter o time em cena; o post do time segue segurado).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validar: 26/10: conferir o número de licenças por saúde mental de 2024 no painel do Ministério da Previdência. 28/10: o que os estudos da HBR e da SHRM mediram.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validar: 03/11: decidir se a jornada é contada pela Clara (personagem fictícia, sinalizada) ou sem personagem. 06/11: conferir as datas da linha do tempo; "validado no SUS" fica de fora.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validar: 09/11: só números liberados, sem o nome da indústria. 11/11: leitura do estudo pela responsável médica. 13/11: "Diagnóstico" sem "gratuito".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OCOS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ENDARI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6858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MAN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31520"/>
            <a:ext cx="6400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o 1"/>
          <p:cNvSpPr/>
          <p:nvPr/>
        </p:nvSpPr>
        <p:spPr>
          <a:xfrm>
            <a:off x="0" y="0"/>
            <a:ext cx="3057068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Bloco 2"/>
          <p:cNvSpPr/>
          <p:nvPr/>
        </p:nvSpPr>
        <p:spPr>
          <a:xfrm>
            <a:off x="3047924" y="0"/>
            <a:ext cx="3057068" cy="6858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Bloco 3"/>
          <p:cNvSpPr/>
          <p:nvPr/>
        </p:nvSpPr>
        <p:spPr>
          <a:xfrm>
            <a:off x="6095848" y="0"/>
            <a:ext cx="3057068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Bloco 4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eta 1"/>
          <p:cNvSpPr/>
          <p:nvPr/>
        </p:nvSpPr>
        <p:spPr>
          <a:xfrm rot="5400000">
            <a:off x="2855900" y="978408"/>
            <a:ext cx="384048" cy="237744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7" name="Seta 2"/>
          <p:cNvSpPr/>
          <p:nvPr/>
        </p:nvSpPr>
        <p:spPr>
          <a:xfrm rot="5400000">
            <a:off x="5903824" y="2807208"/>
            <a:ext cx="384048" cy="237744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8" name="Seta 3"/>
          <p:cNvSpPr/>
          <p:nvPr/>
        </p:nvSpPr>
        <p:spPr>
          <a:xfrm rot="5400000">
            <a:off x="8951747" y="1801368"/>
            <a:ext cx="384048" cy="237744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1480" y="3246120"/>
            <a:ext cx="2316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bg2"/>
                </a:solidFill>
              </a:rPr>
              <a:t>1</a:t>
            </a:r>
            <a:endParaRPr lang="en-US" sz="9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4617720"/>
            <a:ext cx="23164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Reconhecimento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500" b="1" dirty="0">
                <a:solidFill>
                  <a:schemeClr val="bg2"/>
                </a:solidFill>
              </a:rPr>
              <a:t>Quem somos e por que existimos?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Apresentar a marca e criar vínculo com a origem.</a:t>
            </a:r>
            <a:endParaRPr lang="en-US" sz="22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100" b="1" spc="100" kern="0" dirty="0">
                <a:solidFill>
                  <a:schemeClr val="bg2"/>
                </a:solidFill>
              </a:rPr>
              <a:t>2 posts · 19 e 21/10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59404" y="502920"/>
            <a:ext cx="2316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tx1"/>
                </a:solidFill>
              </a:rPr>
              <a:t>2</a:t>
            </a:r>
            <a:endParaRPr lang="en-US" sz="9600" dirty="0"/>
          </a:p>
        </p:txBody>
      </p:sp>
      <p:sp>
        <p:nvSpPr>
          <p:cNvPr id="12" name="Text 10"/>
          <p:cNvSpPr txBox="1"/>
          <p:nvPr/>
        </p:nvSpPr>
        <p:spPr>
          <a:xfrm>
            <a:off x="3459404" y="1874520"/>
            <a:ext cx="23164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Relevância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500" b="1" dirty="0">
                <a:solidFill>
                  <a:schemeClr val="tx1"/>
                </a:solidFill>
              </a:rPr>
              <a:t>Por que as empresas precisam olhar para isso?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Fazer o RH se reconhecer no problema: o cuidado costuma chegar tarde.</a:t>
            </a:r>
            <a:endParaRPr lang="en-US" sz="22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4 posts · 23 a 30/10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2331720"/>
            <a:ext cx="2316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tx2"/>
                </a:solidFill>
              </a:rPr>
              <a:t>3</a:t>
            </a:r>
            <a:endParaRPr lang="en-US" sz="96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3703320"/>
            <a:ext cx="23164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Compreensão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500" b="1" dirty="0">
                <a:solidFill>
                  <a:schemeClr val="tx1"/>
                </a:solidFill>
              </a:rPr>
              <a:t>Como a FairHealth transforma isso em cuidado real?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Mostrar o cuidado na prática, pela experiência de quem é atendido.</a:t>
            </a:r>
            <a:endParaRPr lang="en-US" sz="22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2 posts · 03 e 04/11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555251" y="1325880"/>
            <a:ext cx="2316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tx1"/>
                </a:solidFill>
              </a:rPr>
              <a:t>4</a:t>
            </a:r>
            <a:endParaRPr lang="en-US" sz="9600" dirty="0"/>
          </a:p>
        </p:txBody>
      </p:sp>
      <p:sp>
        <p:nvSpPr>
          <p:cNvPr id="16" name="Text 14"/>
          <p:cNvSpPr txBox="1"/>
          <p:nvPr/>
        </p:nvSpPr>
        <p:spPr>
          <a:xfrm>
            <a:off x="9555251" y="2697480"/>
            <a:ext cx="23164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Confiança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500" b="1" dirty="0">
                <a:solidFill>
                  <a:schemeClr val="tx1"/>
                </a:solidFill>
              </a:rPr>
              <a:t>Por que acreditar na metodologia e na empresa?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Dar provas e abrir um caminho claro para o RH.</a:t>
            </a:r>
            <a:endParaRPr lang="en-US" sz="22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4 posts · 06 a 13/11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</a:rPr>
              <a:t>PROGRAMAÇÃO DO INSTAGRAM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</a:rPr>
              <a:t>19/10 A 13/11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Calendário </a:t>
            </a:r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de conteúdo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19/10 a 13/11  ·  3 posts por semana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548640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26680" y="493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566928"/>
            <a:ext cx="548640" cy="1828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0" y="493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Carrossel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87000" y="566928"/>
            <a:ext cx="548640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27080" y="493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Foto única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61019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76119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91218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06317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sex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721417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sáb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136516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45920" y="1783080"/>
            <a:ext cx="990569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2862072"/>
            <a:ext cx="990569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3941064"/>
            <a:ext cx="990569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5020056"/>
            <a:ext cx="990569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6099048"/>
            <a:ext cx="990569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1019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6119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1218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06317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21417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36516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551615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213055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Semana 1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19 a 23/10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709928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125027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40127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955226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370325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785425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200524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320954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Semana 2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26 a 30/10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709928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3125027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40127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955226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370325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785425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200524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01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428853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Semana 3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03 a 06/11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709928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02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709928" y="4233672"/>
            <a:ext cx="12870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Finados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3125027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03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540127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04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955226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05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7370325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06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8785425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07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0200524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08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40080" y="53675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Semana 4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09 a 13/11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709928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09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3125027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4540127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955226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370325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8785425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8785425" y="5312664"/>
            <a:ext cx="12870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Dia Mundial do Diabetes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10200524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10200524" y="5312664"/>
            <a:ext cx="12870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Proclamação da República</a:t>
            </a:r>
            <a:endParaRPr lang="en-US" sz="1000" dirty="0"/>
          </a:p>
        </p:txBody>
      </p:sp>
      <p:sp>
        <p:nvSpPr>
          <p:cNvPr id="65" name="Post 19/10"/>
          <p:cNvSpPr/>
          <p:nvPr/>
        </p:nvSpPr>
        <p:spPr>
          <a:xfrm>
            <a:off x="1700784" y="2039112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Reel do Dr. Ronald: quem somos</a:t>
            </a:r>
            <a:endParaRPr lang="en-US" sz="1100" dirty="0"/>
          </a:p>
        </p:txBody>
      </p:sp>
      <p:sp>
        <p:nvSpPr>
          <p:cNvPr id="66" name="Post 21/10"/>
          <p:cNvSpPr/>
          <p:nvPr/>
        </p:nvSpPr>
        <p:spPr>
          <a:xfrm>
            <a:off x="4530983" y="2039112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Por que a FairHealth existe?</a:t>
            </a:r>
            <a:endParaRPr lang="en-US" sz="1100" dirty="0"/>
          </a:p>
        </p:txBody>
      </p:sp>
      <p:sp>
        <p:nvSpPr>
          <p:cNvPr id="67" name="Post 23/10"/>
          <p:cNvSpPr/>
          <p:nvPr/>
        </p:nvSpPr>
        <p:spPr>
          <a:xfrm>
            <a:off x="7361181" y="2039112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Cuidar antes, não depois</a:t>
            </a:r>
            <a:endParaRPr lang="en-US" sz="1100" dirty="0"/>
          </a:p>
        </p:txBody>
      </p:sp>
      <p:sp>
        <p:nvSpPr>
          <p:cNvPr id="68" name="Post 26/10"/>
          <p:cNvSpPr/>
          <p:nvPr/>
        </p:nvSpPr>
        <p:spPr>
          <a:xfrm>
            <a:off x="1700784" y="3118104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Cuidado fora da rotina</a:t>
            </a:r>
            <a:endParaRPr lang="en-US" sz="1100" dirty="0"/>
          </a:p>
        </p:txBody>
      </p:sp>
      <p:sp>
        <p:nvSpPr>
          <p:cNvPr id="69" name="Post 28/10"/>
          <p:cNvSpPr/>
          <p:nvPr/>
        </p:nvSpPr>
        <p:spPr>
          <a:xfrm>
            <a:off x="4530983" y="3118104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Prevenção é investimento</a:t>
            </a:r>
            <a:endParaRPr lang="en-US" sz="1100" dirty="0"/>
          </a:p>
        </p:txBody>
      </p:sp>
      <p:sp>
        <p:nvSpPr>
          <p:cNvPr id="70" name="Post 30/10"/>
          <p:cNvSpPr/>
          <p:nvPr/>
        </p:nvSpPr>
        <p:spPr>
          <a:xfrm>
            <a:off x="7361181" y="3118104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Prevenção na rotina da empresa</a:t>
            </a:r>
            <a:endParaRPr lang="en-US" sz="1100" dirty="0"/>
          </a:p>
        </p:txBody>
      </p:sp>
      <p:sp>
        <p:nvSpPr>
          <p:cNvPr id="71" name="Post 03/11"/>
          <p:cNvSpPr/>
          <p:nvPr/>
        </p:nvSpPr>
        <p:spPr>
          <a:xfrm>
            <a:off x="3115883" y="4197096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O cuidado na prática</a:t>
            </a:r>
            <a:endParaRPr lang="en-US" sz="1100" dirty="0"/>
          </a:p>
        </p:txBody>
      </p:sp>
      <p:sp>
        <p:nvSpPr>
          <p:cNvPr id="72" name="Post 04/11"/>
          <p:cNvSpPr/>
          <p:nvPr/>
        </p:nvSpPr>
        <p:spPr>
          <a:xfrm>
            <a:off x="4530983" y="4197096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Quatro frentes, um cuidado</a:t>
            </a:r>
            <a:endParaRPr lang="en-US" sz="1100" dirty="0"/>
          </a:p>
        </p:txBody>
      </p:sp>
      <p:sp>
        <p:nvSpPr>
          <p:cNvPr id="73" name="Post 06/11"/>
          <p:cNvSpPr/>
          <p:nvPr/>
        </p:nvSpPr>
        <p:spPr>
          <a:xfrm>
            <a:off x="7361181" y="4197096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Uma história desde 2009</a:t>
            </a:r>
            <a:endParaRPr lang="en-US" sz="1100" dirty="0"/>
          </a:p>
        </p:txBody>
      </p:sp>
      <p:sp>
        <p:nvSpPr>
          <p:cNvPr id="74" name="Post 09/11"/>
          <p:cNvSpPr/>
          <p:nvPr/>
        </p:nvSpPr>
        <p:spPr>
          <a:xfrm>
            <a:off x="1700784" y="5276088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Resultados reais, com o Dr. Ronald</a:t>
            </a:r>
            <a:endParaRPr lang="en-US" sz="1100" dirty="0"/>
          </a:p>
        </p:txBody>
      </p:sp>
      <p:sp>
        <p:nvSpPr>
          <p:cNvPr id="75" name="Post 11/11"/>
          <p:cNvSpPr/>
          <p:nvPr/>
        </p:nvSpPr>
        <p:spPr>
          <a:xfrm>
            <a:off x="4530983" y="5276088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Estilo de vida é tratamento sério</a:t>
            </a:r>
            <a:endParaRPr lang="en-US" sz="1100" dirty="0"/>
          </a:p>
        </p:txBody>
      </p:sp>
      <p:sp>
        <p:nvSpPr>
          <p:cNvPr id="76" name="Post 13/11"/>
          <p:cNvSpPr/>
          <p:nvPr/>
        </p:nvSpPr>
        <p:spPr>
          <a:xfrm>
            <a:off x="7361181" y="5276088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Como levar a FairHealth à empresa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1645920" y="6236208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 reels  ·  7 carrosséis  ·  1 foto única  ·  1 reel e 2 posts estáticos por semana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31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chemeClr val="tx1"/>
                </a:solidFill>
              </a:rPr>
              <a:t>Semana 1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</a:rPr>
              <a:t>19 a 23/10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26680" y="777240"/>
            <a:ext cx="3824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Reconhecimento e começo da relevância. O Dr. Ronald retoma o que já foi publicado, a origem explica por que existimos e o primeiro post mostra por que cuidar antes.</a:t>
            </a:r>
            <a:endParaRPr lang="en-US" sz="1300" dirty="0"/>
          </a:p>
        </p:txBody>
      </p:sp>
      <p:sp>
        <p:nvSpPr>
          <p:cNvPr id="6" name="Post 19/10"/>
          <p:cNvSpPr/>
          <p:nvPr/>
        </p:nvSpPr>
        <p:spPr>
          <a:xfrm>
            <a:off x="640080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" name="Ícone reel"/>
          <p:cNvSpPr/>
          <p:nvPr/>
        </p:nvSpPr>
        <p:spPr>
          <a:xfrm>
            <a:off x="1028700" y="2941625"/>
            <a:ext cx="274320" cy="197510"/>
          </a:xfrm>
          <a:prstGeom prst="roundRect">
            <a:avLst>
              <a:gd name="adj" fmla="val 16667"/>
            </a:avLst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9" name="Ícone reel (play)"/>
          <p:cNvSpPr/>
          <p:nvPr/>
        </p:nvSpPr>
        <p:spPr>
          <a:xfrm rot="5400000">
            <a:off x="1127455" y="3001975"/>
            <a:ext cx="87782" cy="7681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Reel  ·  bloco 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segunda, 19/10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Quem somos, na voz do Dr. Ronald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Resumo dos posts já publicados, contado pelo fundador do Escritório do Paciente, puxando a origem em 2009</a:t>
            </a:r>
            <a:endParaRPr lang="en-US" sz="1400" dirty="0"/>
          </a:p>
        </p:txBody>
      </p:sp>
      <p:sp>
        <p:nvSpPr>
          <p:cNvPr id="14" name="Post 21/10"/>
          <p:cNvSpPr/>
          <p:nvPr/>
        </p:nvSpPr>
        <p:spPr>
          <a:xfrm>
            <a:off x="4368698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15" name="Shape 13"/>
          <p:cNvSpPr/>
          <p:nvPr/>
        </p:nvSpPr>
        <p:spPr>
          <a:xfrm>
            <a:off x="4643018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6" name="Ícone carrossel (fundo)"/>
          <p:cNvSpPr/>
          <p:nvPr/>
        </p:nvSpPr>
        <p:spPr>
          <a:xfrm>
            <a:off x="4834128" y="290322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7" name="Ícone carrossel (meio)"/>
          <p:cNvSpPr/>
          <p:nvPr/>
        </p:nvSpPr>
        <p:spPr>
          <a:xfrm>
            <a:off x="4795723" y="2941625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" name="Ícone carrossel (frente)"/>
          <p:cNvSpPr/>
          <p:nvPr/>
        </p:nvSpPr>
        <p:spPr>
          <a:xfrm>
            <a:off x="4757318" y="298003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83098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43018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quarta, 21/10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43018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Por que a FairHealth existe?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643018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origem do modelo de cuidado em 2009 e sua evolução até as empresas</a:t>
            </a:r>
            <a:endParaRPr lang="en-US" sz="1400" dirty="0"/>
          </a:p>
        </p:txBody>
      </p:sp>
      <p:sp>
        <p:nvSpPr>
          <p:cNvPr id="23" name="Post 23/10"/>
          <p:cNvSpPr/>
          <p:nvPr/>
        </p:nvSpPr>
        <p:spPr>
          <a:xfrm>
            <a:off x="8097317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24" name="Shape 22"/>
          <p:cNvSpPr/>
          <p:nvPr/>
        </p:nvSpPr>
        <p:spPr>
          <a:xfrm>
            <a:off x="8371637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5" name="Ícone carrossel (fundo)"/>
          <p:cNvSpPr/>
          <p:nvPr/>
        </p:nvSpPr>
        <p:spPr>
          <a:xfrm>
            <a:off x="8562746" y="290322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6" name="Ícone carrossel (meio)"/>
          <p:cNvSpPr/>
          <p:nvPr/>
        </p:nvSpPr>
        <p:spPr>
          <a:xfrm>
            <a:off x="8524342" y="2941625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7" name="Ícone carrossel (frente)"/>
          <p:cNvSpPr/>
          <p:nvPr/>
        </p:nvSpPr>
        <p:spPr>
          <a:xfrm>
            <a:off x="8485937" y="298003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11717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2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71637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sexta, 23/10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371637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Cuidar da saúde não deveria começar quando algo vai mal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371637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importância de uma abordagem preventiva, e não apenas reativa</a:t>
            </a:r>
            <a:endParaRPr lang="en-US" sz="1400" dirty="0"/>
          </a:p>
        </p:txBody>
      </p:sp>
      <p:sp>
        <p:nvSpPr>
          <p:cNvPr id="32" name="Período"/>
          <p:cNvSpPr/>
          <p:nvPr/>
        </p:nvSpPr>
        <p:spPr>
          <a:xfrm>
            <a:off x="640080" y="6144768"/>
            <a:ext cx="1600200" cy="347472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19/10 A 13/11</a:t>
            </a:r>
            <a:endParaRPr lang="en-US" sz="1100" dirty="0"/>
          </a:p>
        </p:txBody>
      </p:sp>
      <p:pic>
        <p:nvPicPr>
          <p:cNvPr id="33" name="Image 0" descr="Logo da fair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108192"/>
            <a:ext cx="411480" cy="41148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0454335" y="61447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fairhealth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31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chemeClr val="tx1"/>
                </a:solidFill>
              </a:rPr>
              <a:t>Semana 2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</a:rPr>
              <a:t>26 a 30/10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26680" y="777240"/>
            <a:ext cx="3824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Relevância. O problema, o argumento de investimento e como a prevenção vira parte da rotina da empresa.</a:t>
            </a:r>
            <a:endParaRPr lang="en-US" sz="1300" dirty="0"/>
          </a:p>
        </p:txBody>
      </p:sp>
      <p:sp>
        <p:nvSpPr>
          <p:cNvPr id="6" name="Post 26/10"/>
          <p:cNvSpPr/>
          <p:nvPr/>
        </p:nvSpPr>
        <p:spPr>
          <a:xfrm>
            <a:off x="640080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" name="Ícone reel"/>
          <p:cNvSpPr/>
          <p:nvPr/>
        </p:nvSpPr>
        <p:spPr>
          <a:xfrm>
            <a:off x="1028700" y="2941625"/>
            <a:ext cx="274320" cy="197510"/>
          </a:xfrm>
          <a:prstGeom prst="roundRect">
            <a:avLst>
              <a:gd name="adj" fmla="val 16667"/>
            </a:avLst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9" name="Ícone reel (play)"/>
          <p:cNvSpPr/>
          <p:nvPr/>
        </p:nvSpPr>
        <p:spPr>
          <a:xfrm rot="5400000">
            <a:off x="1127455" y="3001975"/>
            <a:ext cx="87782" cy="7681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Reel  ·  bloco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segunda, 26/10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 que acontece quando o cuidado não faz parte da rotina?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Desafios da saúde dos colaboradores: acesso e continuidade do cuidado</a:t>
            </a:r>
            <a:endParaRPr lang="en-US" sz="1400" dirty="0"/>
          </a:p>
        </p:txBody>
      </p:sp>
      <p:sp>
        <p:nvSpPr>
          <p:cNvPr id="14" name="Post 28/10"/>
          <p:cNvSpPr/>
          <p:nvPr/>
        </p:nvSpPr>
        <p:spPr>
          <a:xfrm>
            <a:off x="4368698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15" name="Shape 13"/>
          <p:cNvSpPr/>
          <p:nvPr/>
        </p:nvSpPr>
        <p:spPr>
          <a:xfrm>
            <a:off x="4643018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6" name="Ícone foto"/>
          <p:cNvSpPr/>
          <p:nvPr/>
        </p:nvSpPr>
        <p:spPr>
          <a:xfrm>
            <a:off x="4757318" y="2930652"/>
            <a:ext cx="274320" cy="219456"/>
          </a:xfrm>
          <a:prstGeom prst="roundRect">
            <a:avLst>
              <a:gd name="adj" fmla="val 12500"/>
            </a:avLst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17" name="Ícone foto (sol)"/>
          <p:cNvSpPr/>
          <p:nvPr/>
        </p:nvSpPr>
        <p:spPr>
          <a:xfrm>
            <a:off x="4927397" y="2969057"/>
            <a:ext cx="43891" cy="43891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Ícone foto (montanha)"/>
          <p:cNvSpPr/>
          <p:nvPr/>
        </p:nvSpPr>
        <p:spPr>
          <a:xfrm>
            <a:off x="4790237" y="3018434"/>
            <a:ext cx="153619" cy="98755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83098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Foto única  ·  bloco 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43018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quarta, 28/10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43018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Prevenção também é investimento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643018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que os estudos mostram sobre absenteísmo e custos com saúde quando a empresa cuida antes</a:t>
            </a:r>
            <a:endParaRPr lang="en-US" sz="1400" dirty="0"/>
          </a:p>
        </p:txBody>
      </p:sp>
      <p:sp>
        <p:nvSpPr>
          <p:cNvPr id="23" name="Post 30/10"/>
          <p:cNvSpPr/>
          <p:nvPr/>
        </p:nvSpPr>
        <p:spPr>
          <a:xfrm>
            <a:off x="8097317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24" name="Shape 22"/>
          <p:cNvSpPr/>
          <p:nvPr/>
        </p:nvSpPr>
        <p:spPr>
          <a:xfrm>
            <a:off x="8371637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5" name="Ícone carrossel (fundo)"/>
          <p:cNvSpPr/>
          <p:nvPr/>
        </p:nvSpPr>
        <p:spPr>
          <a:xfrm>
            <a:off x="8562746" y="290322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6" name="Ícone carrossel (meio)"/>
          <p:cNvSpPr/>
          <p:nvPr/>
        </p:nvSpPr>
        <p:spPr>
          <a:xfrm>
            <a:off x="8524342" y="2941625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7" name="Ícone carrossel (frente)"/>
          <p:cNvSpPr/>
          <p:nvPr/>
        </p:nvSpPr>
        <p:spPr>
          <a:xfrm>
            <a:off x="8485937" y="298003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11717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2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71637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sexta, 30/10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371637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Como transformar a prevenção em parte da rotina de uma empresa?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371637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Conectar o problema ao modelo de cuidado oferecido pela FairHealth</a:t>
            </a:r>
            <a:endParaRPr lang="en-US" sz="1400" dirty="0"/>
          </a:p>
        </p:txBody>
      </p:sp>
      <p:sp>
        <p:nvSpPr>
          <p:cNvPr id="32" name="Período"/>
          <p:cNvSpPr/>
          <p:nvPr/>
        </p:nvSpPr>
        <p:spPr>
          <a:xfrm>
            <a:off x="640080" y="6144768"/>
            <a:ext cx="1600200" cy="347472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19/10 A 13/11</a:t>
            </a:r>
            <a:endParaRPr lang="en-US" sz="1100" dirty="0"/>
          </a:p>
        </p:txBody>
      </p:sp>
      <p:pic>
        <p:nvPicPr>
          <p:cNvPr id="33" name="Image 0" descr="Logo da fair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108192"/>
            <a:ext cx="411480" cy="41148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0454335" y="61447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fairhealth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31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chemeClr val="tx1"/>
                </a:solidFill>
              </a:rPr>
              <a:t>Semana 3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</a:rPr>
              <a:t>03 a 06/11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26680" y="777240"/>
            <a:ext cx="3824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Compreensão e começo da confiança. O cuidado na prática, as quatro frentes conectadas e a trajetória do método.</a:t>
            </a:r>
            <a:endParaRPr lang="en-US" sz="1300" dirty="0"/>
          </a:p>
        </p:txBody>
      </p:sp>
      <p:sp>
        <p:nvSpPr>
          <p:cNvPr id="6" name="Post 03/11"/>
          <p:cNvSpPr/>
          <p:nvPr/>
        </p:nvSpPr>
        <p:spPr>
          <a:xfrm>
            <a:off x="640080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" name="Ícone carrossel (fundo)"/>
          <p:cNvSpPr/>
          <p:nvPr/>
        </p:nvSpPr>
        <p:spPr>
          <a:xfrm>
            <a:off x="1105510" y="290322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9" name="Ícone carrossel (meio)"/>
          <p:cNvSpPr/>
          <p:nvPr/>
        </p:nvSpPr>
        <p:spPr>
          <a:xfrm>
            <a:off x="1067105" y="2941625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0" name="Ícone carrossel (frente)"/>
          <p:cNvSpPr/>
          <p:nvPr/>
        </p:nvSpPr>
        <p:spPr>
          <a:xfrm>
            <a:off x="1028700" y="298003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terça, 03/11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Como funciona o cuidado na prática?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jornada entre escuta, atendimento, plano individualizado e acompanhamento</a:t>
            </a:r>
            <a:endParaRPr lang="en-US" sz="1400" dirty="0"/>
          </a:p>
        </p:txBody>
      </p:sp>
      <p:sp>
        <p:nvSpPr>
          <p:cNvPr id="15" name="Post 04/11"/>
          <p:cNvSpPr/>
          <p:nvPr/>
        </p:nvSpPr>
        <p:spPr>
          <a:xfrm>
            <a:off x="4368698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16" name="Shape 14"/>
          <p:cNvSpPr/>
          <p:nvPr/>
        </p:nvSpPr>
        <p:spPr>
          <a:xfrm>
            <a:off x="4643018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7" name="Ícone reel"/>
          <p:cNvSpPr/>
          <p:nvPr/>
        </p:nvSpPr>
        <p:spPr>
          <a:xfrm>
            <a:off x="4757318" y="2941625"/>
            <a:ext cx="274320" cy="197510"/>
          </a:xfrm>
          <a:prstGeom prst="roundRect">
            <a:avLst>
              <a:gd name="adj" fmla="val 16667"/>
            </a:avLst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18" name="Ícone reel (play)"/>
          <p:cNvSpPr/>
          <p:nvPr/>
        </p:nvSpPr>
        <p:spPr>
          <a:xfrm rot="5400000">
            <a:off x="4856074" y="3001975"/>
            <a:ext cx="87782" cy="7681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83098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Reel  ·  bloco 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43018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quarta, 04/11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43018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Quatro frentes, um cuidado conectado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643018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Medicina do Estilo de Vida, Escritório do Cuidado, plataforma e wearables</a:t>
            </a:r>
            <a:endParaRPr lang="en-US" sz="1400" dirty="0"/>
          </a:p>
        </p:txBody>
      </p:sp>
      <p:sp>
        <p:nvSpPr>
          <p:cNvPr id="23" name="Post 06/11"/>
          <p:cNvSpPr/>
          <p:nvPr/>
        </p:nvSpPr>
        <p:spPr>
          <a:xfrm>
            <a:off x="8097317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24" name="Shape 22"/>
          <p:cNvSpPr/>
          <p:nvPr/>
        </p:nvSpPr>
        <p:spPr>
          <a:xfrm>
            <a:off x="8371637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5" name="Ícone carrossel (fundo)"/>
          <p:cNvSpPr/>
          <p:nvPr/>
        </p:nvSpPr>
        <p:spPr>
          <a:xfrm>
            <a:off x="8562746" y="290322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6" name="Ícone carrossel (meio)"/>
          <p:cNvSpPr/>
          <p:nvPr/>
        </p:nvSpPr>
        <p:spPr>
          <a:xfrm>
            <a:off x="8524342" y="2941625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7" name="Ícone carrossel (frente)"/>
          <p:cNvSpPr/>
          <p:nvPr/>
        </p:nvSpPr>
        <p:spPr>
          <a:xfrm>
            <a:off x="8485937" y="298003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11717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71637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sexta, 06/11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371637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Uma história de cuidado que começou em 2009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371637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Linha do tempo da metodologia e evolução até a FairHealth</a:t>
            </a:r>
            <a:endParaRPr lang="en-US" sz="1400" dirty="0"/>
          </a:p>
        </p:txBody>
      </p:sp>
      <p:sp>
        <p:nvSpPr>
          <p:cNvPr id="32" name="Período"/>
          <p:cNvSpPr/>
          <p:nvPr/>
        </p:nvSpPr>
        <p:spPr>
          <a:xfrm>
            <a:off x="640080" y="6144768"/>
            <a:ext cx="1600200" cy="347472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19/10 A 13/11</a:t>
            </a:r>
            <a:endParaRPr lang="en-US" sz="1100" dirty="0"/>
          </a:p>
        </p:txBody>
      </p:sp>
      <p:pic>
        <p:nvPicPr>
          <p:cNvPr id="33" name="Image 0" descr="Logo da fair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108192"/>
            <a:ext cx="411480" cy="41148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0454335" y="61447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fairhealth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31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chemeClr val="tx1"/>
                </a:solidFill>
              </a:rPr>
              <a:t>Semana 4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</a:rPr>
              <a:t>09 a 13/11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26680" y="777240"/>
            <a:ext cx="3824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Confiança. Resultados reais, a ciência por trás do cuidado e o convite para o RH.</a:t>
            </a:r>
            <a:endParaRPr lang="en-US" sz="1300" dirty="0"/>
          </a:p>
        </p:txBody>
      </p:sp>
      <p:sp>
        <p:nvSpPr>
          <p:cNvPr id="6" name="Post 09/11"/>
          <p:cNvSpPr/>
          <p:nvPr/>
        </p:nvSpPr>
        <p:spPr>
          <a:xfrm>
            <a:off x="640080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8" name="Ícone reel"/>
          <p:cNvSpPr/>
          <p:nvPr/>
        </p:nvSpPr>
        <p:spPr>
          <a:xfrm>
            <a:off x="1028700" y="2941625"/>
            <a:ext cx="274320" cy="197510"/>
          </a:xfrm>
          <a:prstGeom prst="roundRect">
            <a:avLst>
              <a:gd name="adj" fmla="val 16667"/>
            </a:avLst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9" name="Ícone reel (play)"/>
          <p:cNvSpPr/>
          <p:nvPr/>
        </p:nvSpPr>
        <p:spPr>
          <a:xfrm rot="5400000">
            <a:off x="1127455" y="3001975"/>
            <a:ext cx="87782" cy="7681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Reel  ·  bloco 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segunda, 09/11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Cuidado na prática: experiências e resultados reais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Evidências e resultados documentados, contados pelo Dr. Ronald</a:t>
            </a:r>
            <a:endParaRPr lang="en-US" sz="1400" dirty="0"/>
          </a:p>
        </p:txBody>
      </p:sp>
      <p:sp>
        <p:nvSpPr>
          <p:cNvPr id="14" name="Post 11/11"/>
          <p:cNvSpPr/>
          <p:nvPr/>
        </p:nvSpPr>
        <p:spPr>
          <a:xfrm>
            <a:off x="4368698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15" name="Shape 13"/>
          <p:cNvSpPr/>
          <p:nvPr/>
        </p:nvSpPr>
        <p:spPr>
          <a:xfrm>
            <a:off x="4643018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6" name="Ícone carrossel (fundo)"/>
          <p:cNvSpPr/>
          <p:nvPr/>
        </p:nvSpPr>
        <p:spPr>
          <a:xfrm>
            <a:off x="4834128" y="290322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7" name="Ícone carrossel (meio)"/>
          <p:cNvSpPr/>
          <p:nvPr/>
        </p:nvSpPr>
        <p:spPr>
          <a:xfrm>
            <a:off x="4795723" y="2941625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" name="Ícone carrossel (frente)"/>
          <p:cNvSpPr/>
          <p:nvPr/>
        </p:nvSpPr>
        <p:spPr>
          <a:xfrm>
            <a:off x="4757318" y="298003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83098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43018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quarta, 11/11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43018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Estilo de vida também é tratamento sério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643018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que a ciência mostra sobre mudar a rotina, na semana do Dia Mundial do Diabetes</a:t>
            </a:r>
            <a:endParaRPr lang="en-US" sz="1400" dirty="0"/>
          </a:p>
        </p:txBody>
      </p:sp>
      <p:sp>
        <p:nvSpPr>
          <p:cNvPr id="23" name="Post 13/11"/>
          <p:cNvSpPr/>
          <p:nvPr/>
        </p:nvSpPr>
        <p:spPr>
          <a:xfrm>
            <a:off x="8097317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24" name="Shape 22"/>
          <p:cNvSpPr/>
          <p:nvPr/>
        </p:nvSpPr>
        <p:spPr>
          <a:xfrm>
            <a:off x="8371637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5" name="Ícone carrossel (fundo)"/>
          <p:cNvSpPr/>
          <p:nvPr/>
        </p:nvSpPr>
        <p:spPr>
          <a:xfrm>
            <a:off x="8562746" y="290322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6" name="Ícone carrossel (meio)"/>
          <p:cNvSpPr/>
          <p:nvPr/>
        </p:nvSpPr>
        <p:spPr>
          <a:xfrm>
            <a:off x="8524342" y="2941625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7" name="Ícone carrossel (frente)"/>
          <p:cNvSpPr/>
          <p:nvPr/>
        </p:nvSpPr>
        <p:spPr>
          <a:xfrm>
            <a:off x="8485937" y="2980030"/>
            <a:ext cx="197510" cy="197510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11717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71637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sexta, 13/11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371637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Como levar a FairHealth para sua empresa?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371637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Encerramento da apresentação inicial com orientação para o RH</a:t>
            </a:r>
            <a:endParaRPr lang="en-US" sz="1400" dirty="0"/>
          </a:p>
        </p:txBody>
      </p:sp>
      <p:sp>
        <p:nvSpPr>
          <p:cNvPr id="32" name="Período"/>
          <p:cNvSpPr/>
          <p:nvPr/>
        </p:nvSpPr>
        <p:spPr>
          <a:xfrm>
            <a:off x="640080" y="6144768"/>
            <a:ext cx="1600200" cy="347472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19/10 A 13/11</a:t>
            </a:r>
            <a:endParaRPr lang="en-US" sz="1100" dirty="0"/>
          </a:p>
        </p:txBody>
      </p:sp>
      <p:pic>
        <p:nvPicPr>
          <p:cNvPr id="33" name="Image 0" descr="Logo da fair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108192"/>
            <a:ext cx="411480" cy="41148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0454335" y="61447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fairhealth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irhealth">
  <a:themeElements>
    <a:clrScheme name="fairhealth">
      <a:dk1>
        <a:srgbClr val="1F3A36"/>
      </a:dk1>
      <a:lt1>
        <a:srgbClr val="FFFFFF"/>
      </a:lt1>
      <a:dk2>
        <a:srgbClr val="2F6B64"/>
      </a:dk2>
      <a:lt2>
        <a:srgbClr val="F0F0E9"/>
      </a:lt2>
      <a:accent1>
        <a:srgbClr val="96C5BD"/>
      </a:accent1>
      <a:accent2>
        <a:srgbClr val="BFE0D9"/>
      </a:accent2>
      <a:accent3>
        <a:srgbClr val="0D1816"/>
      </a:accent3>
      <a:accent4>
        <a:srgbClr val="5FA89A"/>
      </a:accent4>
      <a:accent5>
        <a:srgbClr val="1F3A36"/>
      </a:accent5>
      <a:accent6>
        <a:srgbClr val="2F6B64"/>
      </a:accent6>
      <a:hlink>
        <a:srgbClr val="2F6B64"/>
      </a:hlink>
      <a:folHlink>
        <a:srgbClr val="1F3A36"/>
      </a:folHlink>
    </a:clrScheme>
    <a:fontScheme name="fairhealth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do Instagram · 19/10 a 13/11</dc:title>
  <dc:subject>PptxGenJS Presentation</dc:subject>
  <dc:creator>fairhealth</dc:creator>
  <cp:lastModifiedBy>fairhealth</cp:lastModifiedBy>
  <cp:revision>1</cp:revision>
  <dcterms:created xsi:type="dcterms:W3CDTF">2026-10-14T21:35:56Z</dcterms:created>
  <dcterms:modified xsi:type="dcterms:W3CDTF">2026-10-14T21:35:56Z</dcterms:modified>
</cp:coreProperties>
</file>