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isão geral" id="{7d45dfab-228b-8594-7996-83e6e76e7eb4}">
          <p14:sldIdLst>
            <p14:sldId id="256"/>
            <p14:sldId id="257"/>
            <p14:sldId id="258"/>
            <p14:sldId id="259"/>
          </p14:sldIdLst>
        </p14:section>
        <p14:section name="Bloco 01 · Reconhecimento" id="{7955372c-82f2-52bb-275d-67b0cee8e9cc}">
          <p14:sldIdLst>
            <p14:sldId id="260"/>
            <p14:sldId id="261"/>
            <p14:sldId id="262"/>
          </p14:sldIdLst>
        </p14:section>
        <p14:section name="Bloco 02 · Relevância" id="{344eab0b-7eab-c9fd-c7cf-fd3bb40e994b}">
          <p14:sldIdLst>
            <p14:sldId id="263"/>
            <p14:sldId id="264"/>
            <p14:sldId id="265"/>
            <p14:sldId id="266"/>
            <p14:sldId id="267"/>
          </p14:sldIdLst>
        </p14:section>
        <p14:section name="Bloco 03 · Compreensão" id="{22832397-e152-be12-069f-11e84a047a93}">
          <p14:sldIdLst>
            <p14:sldId id="268"/>
            <p14:sldId id="269"/>
            <p14:sldId id="270"/>
          </p14:sldIdLst>
        </p14:section>
        <p14:section name="Bloco 04 · Confiança" id="{c6448fc1-0479-90fa-550c-3d2130e738af}">
          <p14:sldIdLst>
            <p14:sldId id="271"/>
            <p14:sldId id="272"/>
            <p14:sldId id="273"/>
            <p14:sldId id="274"/>
            <p14:sldId id="275"/>
          </p14:sldIdLst>
        </p14:section>
        <p14:section name="Antes de publicar" id="{7ec41585-d8d9-c6db-d15d-db340ff456ed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Programação de 12 posts em 4 semanas (3 por semana), a partir do calendário inicial de 12 posts. O post do time segue segurado.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Já publicados antes desta programação: 01 "O que é a fairhealth?" e 07 "Conheça o Escritório do Cuidado". O post 03 (time) segue segurado.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dos posts publicados (01 e 07). Leva para a origem (21/10).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do reel do Dr. Ronald. Leva para o bloco de relevância: por que cuidar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Abre o bloco de relevância. Leva para o que acontece quando o cuidado não está na rotina.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do "cuidar antes". Leva para o argumento de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do problema. Leva para como a prevenção vira rotina.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Fecha o bloco de relevância. Leva para como o cuidado funciona na prática.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Abre o bloco de compreensão. Leva para as quatro frentes.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da jornada. Leva para a trajetória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Abre o bloco de confiança. Leva para 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do método. Leva para a ciência por trás do cuidado.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Vem dos resultados. Leva para o convite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Fio da história: Fecha a programação. Daqui, o próximo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8686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O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fairhealth · Programação do Instagram · 19/10 a 13/11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fairhealth · Programação do Instagram · 19/10 a 13/11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6634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fairhealth · Programação do Instagram · 19/10 a 13/11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da fairheal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Programação do Instagram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19/10 a 13/11 · 4 semanas · 12 posts · 3 por semana</a:t>
            </a:r>
            <a:endParaRPr lang="en-US" sz="2200" dirty="0"/>
          </a:p>
        </p:txBody>
      </p:sp>
      <p:pic>
        <p:nvPicPr>
          <p:cNvPr id="5" name="Image 1" descr="Fio contínuo da marca, que nasce num ponto e termina num círcu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7720"/>
            <a:ext cx="12191695" cy="1920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899855" y="685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@fairhealth.br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história em quatro blocos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Cada bloco responde a uma pergunta de quem chega ao perfil. Juntos, contam a marca do começo ao convite.</a:t>
            </a:r>
            <a:endParaRPr lang="en-US" sz="1600" dirty="0"/>
          </a:p>
        </p:txBody>
      </p:sp>
      <p:pic>
        <p:nvPicPr>
          <p:cNvPr id="4" name="Image 0" descr="Fio que liga os quatro bloc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2926080"/>
            <a:ext cx="11825935" cy="1463040"/>
          </a:xfrm>
          <a:prstGeom prst="rect">
            <a:avLst/>
          </a:prstGeom>
        </p:spPr>
      </p:pic>
      <p:sp>
        <p:nvSpPr>
          <p:cNvPr id="5" name="Bloco 1"/>
          <p:cNvSpPr/>
          <p:nvPr/>
        </p:nvSpPr>
        <p:spPr>
          <a:xfrm>
            <a:off x="548640" y="1737360"/>
            <a:ext cx="2615184" cy="4389120"/>
          </a:xfrm>
          <a:prstGeom prst="roundRect">
            <a:avLst>
              <a:gd name="adj" fmla="val 6294"/>
            </a:avLst>
          </a:prstGeom>
          <a:solidFill>
            <a:schemeClr val="tx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7240" y="1920240"/>
            <a:ext cx="215798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2"/>
                </a:solidFill>
              </a:rPr>
              <a:t>01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Reconhecimento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i="1" dirty="0">
                <a:solidFill>
                  <a:schemeClr val="bg2"/>
                </a:solidFill>
              </a:rPr>
              <a:t>Quem somos e por que existimos?</a:t>
            </a:r>
            <a:endParaRPr lang="en-US" sz="1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chemeClr val="bg2"/>
                </a:solidFill>
              </a:rPr>
              <a:t>Apresentar a marca e criar vínculo com a origem. Quem chega ao perfil entende quem é a fairhealth, de onde ela vem e quem está por trás do cuidado.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5778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2 posts · 19/10 a 21/10</a:t>
            </a:r>
            <a:endParaRPr lang="en-US" sz="1300" dirty="0"/>
          </a:p>
        </p:txBody>
      </p:sp>
      <p:sp>
        <p:nvSpPr>
          <p:cNvPr id="8" name="Bloco 2"/>
          <p:cNvSpPr/>
          <p:nvPr/>
        </p:nvSpPr>
        <p:spPr>
          <a:xfrm>
            <a:off x="3375050" y="1737360"/>
            <a:ext cx="2615184" cy="4389120"/>
          </a:xfrm>
          <a:prstGeom prst="roundRect">
            <a:avLst>
              <a:gd name="adj" fmla="val 6294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603650" y="1920240"/>
            <a:ext cx="215798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02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Relevância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Por que as empresas precisam olhar para isso?</a:t>
            </a:r>
            <a:endParaRPr lang="en-US" sz="1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Fazer o RH se reconhecer no problema: o cuidado costuma chegar tarde, quando a doença já apareceu. A prevenção precisa fazer parte da rotina.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603650" y="55778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posts · 23/10 a 30/10</a:t>
            </a:r>
            <a:endParaRPr lang="en-US" sz="1300" dirty="0"/>
          </a:p>
        </p:txBody>
      </p:sp>
      <p:sp>
        <p:nvSpPr>
          <p:cNvPr id="11" name="Bloco 3"/>
          <p:cNvSpPr/>
          <p:nvPr/>
        </p:nvSpPr>
        <p:spPr>
          <a:xfrm>
            <a:off x="6201461" y="1737360"/>
            <a:ext cx="2615184" cy="4389120"/>
          </a:xfrm>
          <a:prstGeom prst="roundRect">
            <a:avLst>
              <a:gd name="adj" fmla="val 6294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30061" y="1920240"/>
            <a:ext cx="215798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03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Compreensão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Como a fairhealth transforma isso em cuidado real?</a:t>
            </a:r>
            <a:endParaRPr lang="en-US" sz="1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Mostrar como o cuidado funciona na prática, pela experiência de quem é atendido, sem repetir a apresentação do Escritório do Cuidado.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30061" y="55778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 posts · 03/11 a 04/11</a:t>
            </a:r>
            <a:endParaRPr lang="en-US" sz="1300" dirty="0"/>
          </a:p>
        </p:txBody>
      </p:sp>
      <p:sp>
        <p:nvSpPr>
          <p:cNvPr id="14" name="Bloco 4"/>
          <p:cNvSpPr/>
          <p:nvPr/>
        </p:nvSpPr>
        <p:spPr>
          <a:xfrm>
            <a:off x="9027871" y="1737360"/>
            <a:ext cx="2615184" cy="4389120"/>
          </a:xfrm>
          <a:prstGeom prst="roundRect">
            <a:avLst>
              <a:gd name="adj" fmla="val 6294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256471" y="1920240"/>
            <a:ext cx="215798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</a:rPr>
              <a:t>04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Confiança</a:t>
            </a:r>
            <a:endParaRPr lang="en-US" sz="1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Por que acreditar na metodologia e na empresa?</a:t>
            </a:r>
            <a:endParaRPr lang="en-US" sz="14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chemeClr val="tx1"/>
                </a:solidFill>
              </a:rPr>
              <a:t>Dar provas (a trajetória do método, os resultados e a ciência) e fechar com um caminho claro para o RH.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256471" y="557784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4 posts · 06/11 a 13/11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mês em uma página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Semana 1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19 a 23/10</a:t>
            </a:r>
            <a:endParaRPr lang="en-US" sz="1600" dirty="0"/>
          </a:p>
        </p:txBody>
      </p:sp>
      <p:sp>
        <p:nvSpPr>
          <p:cNvPr id="4" name="Post 19/10"/>
          <p:cNvSpPr/>
          <p:nvPr/>
        </p:nvSpPr>
        <p:spPr>
          <a:xfrm>
            <a:off x="548640" y="1783080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segunda 19/10</a:t>
            </a:r>
            <a:endParaRPr lang="en-US" sz="1200" dirty="0"/>
          </a:p>
        </p:txBody>
      </p:sp>
      <p:pic>
        <p:nvPicPr>
          <p:cNvPr id="6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9019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216712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Reel do Dr. Ronald: quem somos e de onde viemos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73405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Reel</a:t>
            </a:r>
            <a:endParaRPr lang="en-US" sz="1100" dirty="0"/>
          </a:p>
        </p:txBody>
      </p:sp>
      <p:sp>
        <p:nvSpPr>
          <p:cNvPr id="9" name="Post 21/10"/>
          <p:cNvSpPr/>
          <p:nvPr/>
        </p:nvSpPr>
        <p:spPr>
          <a:xfrm>
            <a:off x="548640" y="3163824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tx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13232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quarta 21/10</a:t>
            </a:r>
            <a:endParaRPr lang="en-US" sz="1200" dirty="0"/>
          </a:p>
        </p:txBody>
      </p:sp>
      <p:pic>
        <p:nvPicPr>
          <p:cNvPr id="11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328269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" y="354787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2"/>
                </a:solidFill>
              </a:rPr>
              <a:t>Nossa história começou em um hospital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13232" y="41148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Carrossel</a:t>
            </a:r>
            <a:endParaRPr lang="en-US" sz="1100" dirty="0"/>
          </a:p>
        </p:txBody>
      </p:sp>
      <p:sp>
        <p:nvSpPr>
          <p:cNvPr id="14" name="Post 23/10"/>
          <p:cNvSpPr/>
          <p:nvPr/>
        </p:nvSpPr>
        <p:spPr>
          <a:xfrm>
            <a:off x="548640" y="4544568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13232" y="4654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sexta 23/10</a:t>
            </a:r>
            <a:endParaRPr lang="en-US" sz="1200" dirty="0"/>
          </a:p>
        </p:txBody>
      </p:sp>
      <p:pic>
        <p:nvPicPr>
          <p:cNvPr id="16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46634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3232" y="49286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Cuidar não deveria começar quando algo vai mal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13232" y="549554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Carrossel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3362858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Semana 2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26 a 30/10</a:t>
            </a:r>
            <a:endParaRPr lang="en-US" sz="1600" dirty="0"/>
          </a:p>
        </p:txBody>
      </p:sp>
      <p:sp>
        <p:nvSpPr>
          <p:cNvPr id="20" name="Post 26/10"/>
          <p:cNvSpPr/>
          <p:nvPr/>
        </p:nvSpPr>
        <p:spPr>
          <a:xfrm>
            <a:off x="3362858" y="1783080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3527450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segunda 26/10</a:t>
            </a:r>
            <a:endParaRPr lang="en-US" sz="1200" dirty="0"/>
          </a:p>
        </p:txBody>
      </p:sp>
      <p:pic>
        <p:nvPicPr>
          <p:cNvPr id="22" name="Image 3" descr="Re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138" y="1901952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527450" y="216712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Quando o cuidado não faz parte da rotina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3527450" y="273405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Reel</a:t>
            </a:r>
            <a:endParaRPr lang="en-US" sz="1100" dirty="0"/>
          </a:p>
        </p:txBody>
      </p:sp>
      <p:sp>
        <p:nvSpPr>
          <p:cNvPr id="25" name="Post 28/10"/>
          <p:cNvSpPr/>
          <p:nvPr/>
        </p:nvSpPr>
        <p:spPr>
          <a:xfrm>
            <a:off x="3362858" y="3163824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3527450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quarta 28/10</a:t>
            </a:r>
            <a:endParaRPr lang="en-US" sz="1200" dirty="0"/>
          </a:p>
        </p:txBody>
      </p:sp>
      <p:pic>
        <p:nvPicPr>
          <p:cNvPr id="27" name="Image 4" descr="Foto úni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138" y="3282696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527450" y="354787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Prevenção também é investimento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3527450" y="41148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Foto única</a:t>
            </a:r>
            <a:endParaRPr lang="en-US" sz="1100" dirty="0"/>
          </a:p>
        </p:txBody>
      </p:sp>
      <p:sp>
        <p:nvSpPr>
          <p:cNvPr id="30" name="Post 30/10"/>
          <p:cNvSpPr/>
          <p:nvPr/>
        </p:nvSpPr>
        <p:spPr>
          <a:xfrm>
            <a:off x="3362858" y="4544568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4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3527450" y="4654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sexta 30/10</a:t>
            </a:r>
            <a:endParaRPr lang="en-US" sz="1200" dirty="0"/>
          </a:p>
        </p:txBody>
      </p:sp>
      <p:pic>
        <p:nvPicPr>
          <p:cNvPr id="32" name="Image 5" descr="Carrosse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3138" y="466344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27450" y="49286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Como a prevenção vira rotina na empresa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3527450" y="549554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Carrossel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6177077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Semana 3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03 a 06/11</a:t>
            </a:r>
            <a:endParaRPr lang="en-US" sz="1600" dirty="0"/>
          </a:p>
        </p:txBody>
      </p:sp>
      <p:sp>
        <p:nvSpPr>
          <p:cNvPr id="36" name="Post 03/11"/>
          <p:cNvSpPr/>
          <p:nvPr/>
        </p:nvSpPr>
        <p:spPr>
          <a:xfrm>
            <a:off x="6177077" y="1783080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6341669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terça 03/11</a:t>
            </a:r>
            <a:endParaRPr lang="en-US" sz="1200" dirty="0"/>
          </a:p>
        </p:txBody>
      </p:sp>
      <p:pic>
        <p:nvPicPr>
          <p:cNvPr id="38" name="Image 6" descr="Carross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7357" y="1901952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341669" y="216712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cuidado na prática: a jornada da Clara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6341669" y="273405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Carrossel</a:t>
            </a:r>
            <a:endParaRPr lang="en-US" sz="1100" dirty="0"/>
          </a:p>
        </p:txBody>
      </p:sp>
      <p:sp>
        <p:nvSpPr>
          <p:cNvPr id="41" name="Post 04/11"/>
          <p:cNvSpPr/>
          <p:nvPr/>
        </p:nvSpPr>
        <p:spPr>
          <a:xfrm>
            <a:off x="6177077" y="3163824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6341669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quarta 04/11</a:t>
            </a:r>
            <a:endParaRPr lang="en-US" sz="1200" dirty="0"/>
          </a:p>
        </p:txBody>
      </p:sp>
      <p:pic>
        <p:nvPicPr>
          <p:cNvPr id="43" name="Image 7" descr="Ree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7357" y="3282696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6341669" y="354787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Quatro frentes, um cuidado conectado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6341669" y="41148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Reel</a:t>
            </a:r>
            <a:endParaRPr lang="en-US" sz="1100" dirty="0"/>
          </a:p>
        </p:txBody>
      </p:sp>
      <p:sp>
        <p:nvSpPr>
          <p:cNvPr id="46" name="Post 06/11"/>
          <p:cNvSpPr/>
          <p:nvPr/>
        </p:nvSpPr>
        <p:spPr>
          <a:xfrm>
            <a:off x="6177077" y="4544568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6341669" y="4654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sexta 06/11</a:t>
            </a:r>
            <a:endParaRPr lang="en-US" sz="1200" dirty="0"/>
          </a:p>
        </p:txBody>
      </p:sp>
      <p:pic>
        <p:nvPicPr>
          <p:cNvPr id="48" name="Image 8" descr="Carrosse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7357" y="4663440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341669" y="49286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Uma história que começou em 2009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6341669" y="549554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Carrossel</a:t>
            </a:r>
            <a:endParaRPr lang="en-US" sz="1100" dirty="0"/>
          </a:p>
        </p:txBody>
      </p:sp>
      <p:sp>
        <p:nvSpPr>
          <p:cNvPr id="51" name="Text 40"/>
          <p:cNvSpPr txBox="1"/>
          <p:nvPr/>
        </p:nvSpPr>
        <p:spPr>
          <a:xfrm>
            <a:off x="8991295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Semana 4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09 a 13/11</a:t>
            </a:r>
            <a:endParaRPr lang="en-US" sz="1600" dirty="0"/>
          </a:p>
        </p:txBody>
      </p:sp>
      <p:sp>
        <p:nvSpPr>
          <p:cNvPr id="52" name="Post 09/11"/>
          <p:cNvSpPr/>
          <p:nvPr/>
        </p:nvSpPr>
        <p:spPr>
          <a:xfrm>
            <a:off x="8991295" y="1783080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53" name="Text 42"/>
          <p:cNvSpPr txBox="1"/>
          <p:nvPr/>
        </p:nvSpPr>
        <p:spPr>
          <a:xfrm>
            <a:off x="9155887" y="1892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segunda 09/11</a:t>
            </a:r>
            <a:endParaRPr lang="en-US" sz="1200" dirty="0"/>
          </a:p>
        </p:txBody>
      </p:sp>
      <p:pic>
        <p:nvPicPr>
          <p:cNvPr id="54" name="Image 9" descr="Reel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31575" y="1901952"/>
            <a:ext cx="237744" cy="237744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9155887" y="2167128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Resultados reais, com o Dr. Ronald</a:t>
            </a:r>
            <a:endParaRPr lang="en-US" sz="1300" dirty="0"/>
          </a:p>
        </p:txBody>
      </p:sp>
      <p:sp>
        <p:nvSpPr>
          <p:cNvPr id="56" name="Text 44"/>
          <p:cNvSpPr txBox="1"/>
          <p:nvPr/>
        </p:nvSpPr>
        <p:spPr>
          <a:xfrm>
            <a:off x="9155887" y="273405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Reel</a:t>
            </a:r>
            <a:endParaRPr lang="en-US" sz="1100" dirty="0"/>
          </a:p>
        </p:txBody>
      </p:sp>
      <p:sp>
        <p:nvSpPr>
          <p:cNvPr id="57" name="Post 11/11"/>
          <p:cNvSpPr/>
          <p:nvPr/>
        </p:nvSpPr>
        <p:spPr>
          <a:xfrm>
            <a:off x="8991295" y="3163824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58" name="Text 46"/>
          <p:cNvSpPr txBox="1"/>
          <p:nvPr/>
        </p:nvSpPr>
        <p:spPr>
          <a:xfrm>
            <a:off x="9155887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quarta 11/11</a:t>
            </a:r>
            <a:endParaRPr lang="en-US" sz="1200" dirty="0"/>
          </a:p>
        </p:txBody>
      </p:sp>
      <p:pic>
        <p:nvPicPr>
          <p:cNvPr id="59" name="Image 10" descr="Carrossel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31575" y="3282696"/>
            <a:ext cx="237744" cy="237744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9155887" y="3547872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Estilo de vida também é tratamento sério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9155887" y="411480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Carrossel</a:t>
            </a:r>
            <a:endParaRPr lang="en-US" sz="1100" dirty="0"/>
          </a:p>
        </p:txBody>
      </p:sp>
      <p:sp>
        <p:nvSpPr>
          <p:cNvPr id="62" name="Post 13/11"/>
          <p:cNvSpPr/>
          <p:nvPr/>
        </p:nvSpPr>
        <p:spPr>
          <a:xfrm>
            <a:off x="8991295" y="4544568"/>
            <a:ext cx="2651760" cy="1261872"/>
          </a:xfrm>
          <a:prstGeom prst="roundRect">
            <a:avLst>
              <a:gd name="adj" fmla="val 8696"/>
            </a:avLst>
          </a:prstGeom>
          <a:solidFill>
            <a:schemeClr val="accent2"/>
          </a:solidFill>
          <a:ln/>
        </p:spPr>
      </p:sp>
      <p:sp>
        <p:nvSpPr>
          <p:cNvPr id="63" name="Text 50"/>
          <p:cNvSpPr txBox="1"/>
          <p:nvPr/>
        </p:nvSpPr>
        <p:spPr>
          <a:xfrm>
            <a:off x="9155887" y="46542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sexta 13/11</a:t>
            </a:r>
            <a:endParaRPr lang="en-US" sz="1200" dirty="0"/>
          </a:p>
        </p:txBody>
      </p:sp>
      <p:pic>
        <p:nvPicPr>
          <p:cNvPr id="64" name="Image 11" descr="Carrossel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1575" y="4663440"/>
            <a:ext cx="237744" cy="237744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9155887" y="4928616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Como levar a fairhealth para sua empresa</a:t>
            </a:r>
            <a:endParaRPr lang="en-US" sz="1300" dirty="0"/>
          </a:p>
        </p:txBody>
      </p:sp>
      <p:sp>
        <p:nvSpPr>
          <p:cNvPr id="66" name="Text 52"/>
          <p:cNvSpPr txBox="1"/>
          <p:nvPr/>
        </p:nvSpPr>
        <p:spPr>
          <a:xfrm>
            <a:off x="9155887" y="549554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Carrossel</a:t>
            </a:r>
            <a:endParaRPr lang="en-US" sz="1100" dirty="0"/>
          </a:p>
        </p:txBody>
      </p:sp>
      <p:sp>
        <p:nvSpPr>
          <p:cNvPr id="67" name="Shape 53"/>
          <p:cNvSpPr/>
          <p:nvPr/>
        </p:nvSpPr>
        <p:spPr>
          <a:xfrm>
            <a:off x="548640" y="6016752"/>
            <a:ext cx="164592" cy="16459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8" name="Text 54"/>
          <p:cNvSpPr txBox="1"/>
          <p:nvPr/>
        </p:nvSpPr>
        <p:spPr>
          <a:xfrm>
            <a:off x="77724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Reconhecimento</a:t>
            </a:r>
            <a:endParaRPr lang="en-US" sz="1200" dirty="0"/>
          </a:p>
        </p:txBody>
      </p:sp>
      <p:sp>
        <p:nvSpPr>
          <p:cNvPr id="69" name="Shape 55"/>
          <p:cNvSpPr/>
          <p:nvPr/>
        </p:nvSpPr>
        <p:spPr>
          <a:xfrm>
            <a:off x="2560320" y="6016752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0" name="Text 56"/>
          <p:cNvSpPr txBox="1"/>
          <p:nvPr/>
        </p:nvSpPr>
        <p:spPr>
          <a:xfrm>
            <a:off x="278892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Relevância</a:t>
            </a:r>
            <a:endParaRPr lang="en-US" sz="1200" dirty="0"/>
          </a:p>
        </p:txBody>
      </p:sp>
      <p:sp>
        <p:nvSpPr>
          <p:cNvPr id="71" name="Shape 57"/>
          <p:cNvSpPr/>
          <p:nvPr/>
        </p:nvSpPr>
        <p:spPr>
          <a:xfrm>
            <a:off x="4572000" y="601675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2" name="Text 58"/>
          <p:cNvSpPr txBox="1"/>
          <p:nvPr/>
        </p:nvSpPr>
        <p:spPr>
          <a:xfrm>
            <a:off x="480060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Compreensão</a:t>
            </a:r>
            <a:endParaRPr lang="en-US" sz="1200" dirty="0"/>
          </a:p>
        </p:txBody>
      </p:sp>
      <p:sp>
        <p:nvSpPr>
          <p:cNvPr id="73" name="Shape 59"/>
          <p:cNvSpPr/>
          <p:nvPr/>
        </p:nvSpPr>
        <p:spPr>
          <a:xfrm>
            <a:off x="6583680" y="6016752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4" name="Text 60"/>
          <p:cNvSpPr txBox="1"/>
          <p:nvPr/>
        </p:nvSpPr>
        <p:spPr>
          <a:xfrm>
            <a:off x="681228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Confiança</a:t>
            </a:r>
            <a:endParaRPr lang="en-US" sz="1200" dirty="0"/>
          </a:p>
        </p:txBody>
      </p:sp>
      <p:sp>
        <p:nvSpPr>
          <p:cNvPr id="75" name="Text 61"/>
          <p:cNvSpPr txBox="1"/>
          <p:nvPr/>
        </p:nvSpPr>
        <p:spPr>
          <a:xfrm>
            <a:off x="8351215" y="5961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Ícones: reel · carrossel · foto única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Ritmo e formatos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15184" cy="201168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12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posts em 4 semanas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5050" y="1325880"/>
            <a:ext cx="261518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49370" y="146304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4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3649370" y="256032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reels, 2 com o Dr. Ronald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01461" y="1325880"/>
            <a:ext cx="261518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5781" y="146304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7</a:t>
            </a:r>
            <a:endParaRPr lang="en-US" sz="6600" dirty="0"/>
          </a:p>
        </p:txBody>
      </p:sp>
      <p:sp>
        <p:nvSpPr>
          <p:cNvPr id="11" name="Text 9"/>
          <p:cNvSpPr txBox="1"/>
          <p:nvPr/>
        </p:nvSpPr>
        <p:spPr>
          <a:xfrm>
            <a:off x="6475781" y="256032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carrosséis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27871" y="1325880"/>
            <a:ext cx="261518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02191" y="1463040"/>
            <a:ext cx="2066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1</a:t>
            </a:r>
            <a:endParaRPr lang="en-US" sz="6600" dirty="0"/>
          </a:p>
        </p:txBody>
      </p:sp>
      <p:sp>
        <p:nvSpPr>
          <p:cNvPr id="14" name="Text 12"/>
          <p:cNvSpPr txBox="1"/>
          <p:nvPr/>
        </p:nvSpPr>
        <p:spPr>
          <a:xfrm>
            <a:off x="9302191" y="256032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foto única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Ritmo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365760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 posts por semana: segunda, quarta e sexta. Na semana de Finados (02/11), terça, quarta e sexta. 20/11 fica fora.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793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Mistura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279392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 reel e 2 posts estáticos por semana. Nunca dois reels seguidos.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011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Já pronto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4901184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Post de 21/10 (arte v2), "Prevenção também é investimento" (arte no Canva) e o roteiro de "Estilo de vida também é tratamento sério".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2297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Gravação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5522976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 duas falas do Dr. Ronald (19/10 e 09/11) podem ser gravadas no mesmo dia.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BLOCO 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Reconhecimento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</a:rPr>
              <a:t>Quem somos e por que existimos?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Intuito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Apresentar a marca e criar vínculo com a origem. Quem chega ao perfil entende quem é a fairhealth, de onde ela vem e quem está por trás do cuidado.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95160" y="777240"/>
            <a:ext cx="4647895" cy="2459736"/>
          </a:xfrm>
          <a:prstGeom prst="roundRect">
            <a:avLst>
              <a:gd name="adj" fmla="val 6691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Posts do bloco</a:t>
            </a:r>
            <a:endParaRPr lang="en-US" sz="1400" dirty="0"/>
          </a:p>
        </p:txBody>
      </p:sp>
      <p:pic>
        <p:nvPicPr>
          <p:cNvPr id="8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5179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1463040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segunda 19/10 · Reel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Reel do Dr. Ronald: quem somos e de onde viemos</a:t>
            </a:r>
            <a:endParaRPr lang="en-US" sz="1200" dirty="0"/>
          </a:p>
        </p:txBody>
      </p:sp>
      <p:pic>
        <p:nvPicPr>
          <p:cNvPr id="10" name="Image 1" descr="Carros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59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2304288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quarta 21/10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Nossa história começou em um hospital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617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</a:rPr>
              <a:t>Já publicados antes: "O que é a fairhealth?" e "Conheça o Escritório do Cuidado". O post do time segue segurado.</a:t>
            </a:r>
            <a:endParaRPr lang="en-US" sz="1300" dirty="0"/>
          </a:p>
        </p:txBody>
      </p:sp>
      <p:pic>
        <p:nvPicPr>
          <p:cNvPr id="13" name="Image 2" descr="Fio contínuo da 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4920"/>
            <a:ext cx="12191695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01 · RECONHECIMENTO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1 · segunda-feira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19/10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Reel falado · 30 a 45 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Novo (antes do 02)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Roteiro a escrever · gravação</a:t>
            </a:r>
            <a:endParaRPr lang="en-US" sz="1400" dirty="0"/>
          </a:p>
        </p:txBody>
      </p:sp>
      <p:pic>
        <p:nvPicPr>
          <p:cNvPr id="9" name="Image 1" descr="Linha do mês: post 1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você viu até aqui, na voz de quem começou essa história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O Dr. Ronald, fundador do Escritório do Paciente, resume os dois posts já publicados: o que é a fairhealth e o Escritório do Cuidado. Termina puxando a origem: "e tudo isso começou num hospital, em 2009".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Dar rosto e voz médica à marca. Humaniza, gera confiança e costura o que já saiu com o próximo post.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01 · RECONHECIMENTO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1 · quarta-feira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21/10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· 6 slides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02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Arte pronta (v2)</a:t>
            </a:r>
            <a:endParaRPr lang="en-US" sz="1400" dirty="0"/>
          </a:p>
        </p:txBody>
      </p:sp>
      <p:pic>
        <p:nvPicPr>
          <p:cNvPr id="9" name="Image 1" descr="Linha do mês: post 2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Antes de chegar às empresas, nossa história começou em um hospital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A origem em 2009, com o Escritório do Paciente; a escuta como essência; a evolução até o trabalho; a fairhealth hoje. Um fio atravessa os seis slides, de 2009 até o logo.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A fairhealth não é mais uma startup de bem-estar: o modelo tem história e nasceu no cuidado de verdade. O cuidado começa pela pessoa.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BLOCO 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Relevância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</a:rPr>
              <a:t>Por que as empresas precisam olhar para isso?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Intuito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Fazer o RH se reconhecer no problema: o cuidado costuma chegar tarde, quando a doença já apareceu. A prevenção precisa fazer parte da rotina.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95160" y="777240"/>
            <a:ext cx="4647895" cy="4142232"/>
          </a:xfrm>
          <a:prstGeom prst="roundRect">
            <a:avLst>
              <a:gd name="adj" fmla="val 3974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Posts do bloco</a:t>
            </a:r>
            <a:endParaRPr lang="en-US" sz="1400" dirty="0"/>
          </a:p>
        </p:txBody>
      </p:sp>
      <p:pic>
        <p:nvPicPr>
          <p:cNvPr id="8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5179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1463040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sexta 23/10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Cuidar não deveria começar quando algo vai mal</a:t>
            </a:r>
            <a:endParaRPr lang="en-US" sz="1200" dirty="0"/>
          </a:p>
        </p:txBody>
      </p:sp>
      <p:pic>
        <p:nvPicPr>
          <p:cNvPr id="10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59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2304288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segunda 26/10 · Reel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Quando o cuidado não faz parte da rotina</a:t>
            </a:r>
            <a:endParaRPr lang="en-US" sz="1200" dirty="0"/>
          </a:p>
        </p:txBody>
      </p:sp>
      <p:pic>
        <p:nvPicPr>
          <p:cNvPr id="12" name="Image 2" descr="Foto úni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2004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80960" y="3145536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quarta 28/10 · Foto única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Prevenção também é investimento</a:t>
            </a:r>
            <a:endParaRPr lang="en-US" sz="1200" dirty="0"/>
          </a:p>
        </p:txBody>
      </p:sp>
      <p:pic>
        <p:nvPicPr>
          <p:cNvPr id="14" name="Image 3" descr="Carross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0416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80960" y="3986784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sexta 30/10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Como a prevenção vira rotina na empresa</a:t>
            </a:r>
            <a:endParaRPr lang="en-US" sz="1200" dirty="0"/>
          </a:p>
        </p:txBody>
      </p:sp>
      <p:pic>
        <p:nvPicPr>
          <p:cNvPr id="16" name="Image 4" descr="Fio contínuo da 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74920"/>
            <a:ext cx="12191695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02 · RELEVÂNCIA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1 · sexta-feira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23/10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de trás para frente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04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</a:t>
            </a:r>
            <a:endParaRPr lang="en-US" sz="1400" dirty="0"/>
          </a:p>
        </p:txBody>
      </p:sp>
      <p:pic>
        <p:nvPicPr>
          <p:cNvPr id="9" name="Image 1" descr="Linha do mês: post 3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Cuidar da saúde não deveria começar quando algo vai mal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Cada slide volta um passo no tempo: antes do afastamento, o atestado; antes do atestado, a semana pesada; antes dela, a noite sem dormir. Fecha em "a gente cuida antes".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A diferença entre cuidado reativo e preventivo. O plano de saúde entra depois; a fairhealth entra antes.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02 · RELEVÂNCIA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2 · segunda-feira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26/10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Reel tipográfico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05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 · confirmar o número</a:t>
            </a:r>
            <a:endParaRPr lang="en-US" sz="1400" dirty="0"/>
          </a:p>
        </p:txBody>
      </p:sp>
      <p:pic>
        <p:nvPicPr>
          <p:cNvPr id="9" name="Image 1" descr="Linha do mês: post 4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que acontece quando o cuidado não faz parte da rotina?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Um número forte, com fonte: as licenças por saúde mental em 2024 (Ministério da Previdência). E três barreiras: falta de tempo, distância do cuidado e falta de continuidade.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O problema não é a falta de plano de saúde. É o cuidado não estar perto nem ser contínuo. Proximidade gera adesão.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02 · RELEVÂNCIA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2 · quarta-feira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28/10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Foto ún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Foto única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Arte pronta no Canva</a:t>
            </a:r>
            <a:endParaRPr lang="en-US" sz="1400" dirty="0"/>
          </a:p>
        </p:txBody>
      </p:sp>
      <p:pic>
        <p:nvPicPr>
          <p:cNvPr id="9" name="Image 1" descr="Linha do mês: post 5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Prevenção também é investimento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Dois resultados de estudos externos, com a fonte visível: −28% de absenteísmo (Harvard Business Review, 2022) e −22% de custos com saúde (SHRM, 2023).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Falar com o RH e com o financeiro: cuidar antes faz bem às pessoas e também à empresa. O retorno é consequência, não promessa.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02 · RELEVÂNCIA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2 · sexta-feira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30/10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passo a passo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06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</a:t>
            </a:r>
            <a:endParaRPr lang="en-US" sz="1400" dirty="0"/>
          </a:p>
        </p:txBody>
      </p:sp>
      <p:pic>
        <p:nvPicPr>
          <p:cNvPr id="9" name="Image 1" descr="Linha do mês: post 6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transformar a prevenção em parte da rotina de uma empresa?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Cinco movimentos: levar o cuidado para perto (dentro da empresa), começar pela escuta, montar um plano que caiba na rotina, acompanhar de forma contínua e dar ao RH indicadores do grupo.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A ponte entre o problema e o modelo da fairhealth. Prevenção é estrutura, não campanha pontual.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BLOCO 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Compreensão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</a:rPr>
              <a:t>Como a fairhealth transforma isso em cuidado real?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Intuito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Mostrar como o cuidado funciona na prática, pela experiência de quem é atendido, sem repetir a apresentação do Escritório do Cuidado.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95160" y="777240"/>
            <a:ext cx="4647895" cy="2459736"/>
          </a:xfrm>
          <a:prstGeom prst="roundRect">
            <a:avLst>
              <a:gd name="adj" fmla="val 6691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Posts do bloco</a:t>
            </a:r>
            <a:endParaRPr lang="en-US" sz="1400" dirty="0"/>
          </a:p>
        </p:txBody>
      </p:sp>
      <p:pic>
        <p:nvPicPr>
          <p:cNvPr id="8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5179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1463040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terça 03/11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O cuidado na prática: a jornada da Clara</a:t>
            </a:r>
            <a:endParaRPr lang="en-US" sz="1200" dirty="0"/>
          </a:p>
        </p:txBody>
      </p:sp>
      <p:pic>
        <p:nvPicPr>
          <p:cNvPr id="10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59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2304288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quarta 04/11 · Reel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Quatro frentes, um cuidado conectado</a:t>
            </a:r>
            <a:endParaRPr lang="en-US" sz="1200" dirty="0"/>
          </a:p>
        </p:txBody>
      </p:sp>
      <p:pic>
        <p:nvPicPr>
          <p:cNvPr id="12" name="Image 2" descr="Fio contínuo da 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4920"/>
            <a:ext cx="12191695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03 · COMPREENSÃO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3 · terça-feira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03/11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com história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08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 · decidir sobre a Clara</a:t>
            </a:r>
            <a:endParaRPr lang="en-US" sz="1400" dirty="0"/>
          </a:p>
        </p:txBody>
      </p:sp>
      <p:pic>
        <p:nvPicPr>
          <p:cNvPr id="9" name="Image 1" descr="Linha do mês: post 7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7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funciona o cuidado na prática?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A jornada contada pela Clara, personagem fictícia e sinalizada: a escuta ("o que é importante para você?"), anamnese e medições, um plano com três ações pequenas e o acompanhamento.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Retomar o Escritório do Cuidado pela experiência de quem é atendido, sem repetir a apresentação. O plano é possível e humano.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03 · COMPREENSÃO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3 · quarta-feira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04/11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Reel em motion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09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</a:t>
            </a:r>
            <a:endParaRPr lang="en-US" sz="1400" dirty="0"/>
          </a:p>
        </p:txBody>
      </p:sp>
      <p:pic>
        <p:nvPicPr>
          <p:cNvPr id="9" name="Image 1" descr="Linha do mês: post 8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Quatro frentes, um cuidado conectado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Escritório do Cuidado, Programa de Medicina do Estilo de Vida, plataforma digital e wearables aparecem um a um, e o fio contínuo liga os quatro.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Não são quatro produtos soltos: é um cuidado só, que funciona melhor junto.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1"/>
                </a:solidFill>
              </a:rPr>
              <a:t>BLOCO 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Confiança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tx1"/>
                </a:solidFill>
              </a:rPr>
              <a:t>Por que acreditar na metodologia e na empresa?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tx1"/>
                </a:solidFill>
              </a:rPr>
              <a:t>Intuito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700" dirty="0">
                <a:solidFill>
                  <a:schemeClr val="tx1"/>
                </a:solidFill>
              </a:rPr>
              <a:t>Dar provas (a trajetória do método, os resultados e a ciência) e fechar com um caminho claro para o RH.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95160" y="777240"/>
            <a:ext cx="4647895" cy="4142232"/>
          </a:xfrm>
          <a:prstGeom prst="roundRect">
            <a:avLst>
              <a:gd name="adj" fmla="val 3974"/>
            </a:avLst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Posts do bloco</a:t>
            </a:r>
            <a:endParaRPr lang="en-US" sz="1400" dirty="0"/>
          </a:p>
        </p:txBody>
      </p:sp>
      <p:pic>
        <p:nvPicPr>
          <p:cNvPr id="8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5179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80960" y="1463040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sexta 06/11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Uma história que começou em 2009</a:t>
            </a:r>
            <a:endParaRPr lang="en-US" sz="1200" dirty="0"/>
          </a:p>
        </p:txBody>
      </p:sp>
      <p:pic>
        <p:nvPicPr>
          <p:cNvPr id="10" name="Image 1" descr="Re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359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80960" y="2304288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segunda 09/11 · Reel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Resultados reais, com o Dr. Ronald</a:t>
            </a:r>
            <a:endParaRPr lang="en-US" sz="1200" dirty="0"/>
          </a:p>
        </p:txBody>
      </p:sp>
      <p:pic>
        <p:nvPicPr>
          <p:cNvPr id="12" name="Image 2" descr="Carross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2004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680960" y="3145536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quarta 11/11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Estilo de vida também é tratamento sério</a:t>
            </a:r>
            <a:endParaRPr lang="en-US" sz="1200" dirty="0"/>
          </a:p>
        </p:txBody>
      </p:sp>
      <p:pic>
        <p:nvPicPr>
          <p:cNvPr id="14" name="Image 3" descr="Carross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04164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680960" y="3986784"/>
            <a:ext cx="37334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sexta 13/11 · Carrossel</a:t>
            </a:r>
            <a:endParaRPr lang="en-US" sz="12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Como levar a fairhealth para sua empresa</a:t>
            </a:r>
            <a:endParaRPr lang="en-US" sz="1200" dirty="0"/>
          </a:p>
        </p:txBody>
      </p:sp>
      <p:pic>
        <p:nvPicPr>
          <p:cNvPr id="16" name="Image 4" descr="Fio contínuo da 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074920"/>
            <a:ext cx="12191695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04 · CONFIANÇA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3 · sexta-feira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06/11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linha do tempo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10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 · conferir as datas</a:t>
            </a:r>
            <a:endParaRPr lang="en-US" sz="1400" dirty="0"/>
          </a:p>
        </p:txBody>
      </p:sp>
      <p:pic>
        <p:nvPicPr>
          <p:cNvPr id="9" name="Image 1" descr="Linha do mês: post 9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Uma história de cuidado que começou em 2009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Os marcos do método: Triple Aim (2007), Escritório do Paciente (2009), Quadruple Aim (2014), Quintuple Aim (2021) e Escritório do Cuidado (2024 e 2025). E o caso do hospital, sem o nome.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O post de 21/10 contou por que o modelo surgiu. Este mostra que ele tem método, base internacional e trajetória.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04 · CONFIANÇA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4 · segunda-feira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09/11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Re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Reel falado · números na tela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11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Gravar junto com o reel de 19/10</a:t>
            </a:r>
            <a:endParaRPr lang="en-US" sz="1400" dirty="0"/>
          </a:p>
        </p:txBody>
      </p:sp>
      <p:pic>
        <p:nvPicPr>
          <p:cNvPr id="9" name="Image 1" descr="Linha do mês: post 10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Cuidado na prática: experiências e resultados reais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O Dr. Ronald conta o que a equipe viu na prática, com os números na tela: numa indústria atendida, 8 em cada 10 pessoas voltaram para mais de um atendimento, e a adesão chegou a 98%.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A prova de que as pessoas usam e voltam. Ninguém volta a um lugar onde não se sentiu cuidado.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04 · CONFIANÇA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4 · quarta-feira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11/11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· 7 slides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Roteiro pronto</a:t>
            </a:r>
            <a:endParaRPr lang="en-US" sz="1400" dirty="0"/>
          </a:p>
        </p:txBody>
      </p:sp>
      <p:pic>
        <p:nvPicPr>
          <p:cNvPr id="9" name="Image 1" descr="Linha do mês: post 11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Estilo de vida também é tratamento sério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O estudo clássico Diabetes Prevention Program (New England Journal of Medicine, 2002): mudanças de rotina reduziram em 58% os novos casos de diabetes tipo 2 em adultos com risco. Na semana do Dia Mundial do Diabetes (14/11).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A Medicina do Estilo de Vida tem evidência científica. O cuidado começa pela rotina porque a ciência mostra que ela importa.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1"/>
                </a:solidFill>
              </a:rPr>
              <a:t>BLOCO 04 · CONFIANÇA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Semana 4 · sexta-feira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tx1"/>
                </a:solidFill>
              </a:rPr>
              <a:t>13/11</a:t>
            </a:r>
            <a:endParaRPr lang="en-US" sz="7200" dirty="0"/>
          </a:p>
        </p:txBody>
      </p:sp>
      <p:sp>
        <p:nvSpPr>
          <p:cNvPr id="5" name="Formato"/>
          <p:cNvSpPr/>
          <p:nvPr/>
        </p:nvSpPr>
        <p:spPr>
          <a:xfrm>
            <a:off x="457200" y="2606040"/>
            <a:ext cx="3246120" cy="54864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pic>
        <p:nvPicPr>
          <p:cNvPr id="6" name="Image 0" descr="Carros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7249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78992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Carrossel de fechamento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calendário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 12</a:t>
            </a:r>
            <a:endParaRPr lang="en-US" sz="14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400" b="1" dirty="0">
                <a:solidFill>
                  <a:schemeClr val="tx1"/>
                </a:solidFill>
              </a:rPr>
              <a:t>Produção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produzir</a:t>
            </a:r>
            <a:endParaRPr lang="en-US" sz="1400" dirty="0"/>
          </a:p>
        </p:txBody>
      </p:sp>
      <p:pic>
        <p:nvPicPr>
          <p:cNvPr id="9" name="Image 1" descr="Linha do mês: post 12 de 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83480"/>
            <a:ext cx="4160520" cy="1188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12 de 12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4663440" y="502920"/>
            <a:ext cx="69796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levar a fairhealth para sua empresa?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1965960"/>
            <a:ext cx="6979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O POST MOSTRA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Três passos: diagnóstico, proposta personalizada e implementação. E o convite para falar com a gente pelo direct.</a:t>
            </a:r>
            <a:endParaRPr lang="en-US" sz="1200" dirty="0"/>
          </a:p>
        </p:txBody>
      </p:sp>
      <p:sp>
        <p:nvSpPr>
          <p:cNvPr id="13" name="Por trás do título"/>
          <p:cNvSpPr/>
          <p:nvPr/>
        </p:nvSpPr>
        <p:spPr>
          <a:xfrm>
            <a:off x="4663440" y="3931920"/>
            <a:ext cx="6979615" cy="210312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937760" y="4114800"/>
            <a:ext cx="643097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 QUE ESTAMOS DIZENDO POR TRÁS DO TÍTULO</a:t>
            </a:r>
            <a:endParaRPr lang="en-US" sz="12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b="1" dirty="0">
                <a:solidFill>
                  <a:schemeClr val="tx1"/>
                </a:solidFill>
              </a:rPr>
              <a:t>Fechar a apresentação inicial com um caminho claro e simples para o RH. Um convite suave, sem preço e sem promessa.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que validar antes de publicar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126480"/>
                <a:gridCol w="2224735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 que validar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Quem confirma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19/10 e 09/11 · Reels do Dr. Ronald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Autorização de uso de imagem. Exceção à decisão de não ter o time em cena (o post do time segue segurado).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Sócios e Dr. Ronald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26/10 · Cuidado fora da rotina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Conferir o número de licenças por saúde mental de 2024 no painel do Ministério da Previdência.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Comunicação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28/10 · Prevenção é investimento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 que os estudos da HBR e da SHRM mediram (tipo de programa e população).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Comunicação e responsável médica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03/11 · A jornada da Clara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Manter a personagem fictícia, sinalizada como história ilustrativa, ou contar sem personagem.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Nina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06/11 · História desde 2009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Datas da linha do tempo. "Validado no SUS" fica de fora até ter fonte.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Time fairhealth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09/11 · Resultados reais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Só números liberados, sem o nome da indústria atendida.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Sócios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11/11 · Estilo de vida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Leitura do estudo pela responsável médica: vale para adultos com risco aumentado, não é promessa individual.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Responsável médica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13/11 · Como levar a fairhealth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"Diagnóstico" sem "gratuito". Quem responde o direct.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Comunicação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Próximos passos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51460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Aprovar a programação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Datas, formatos e a decisão sobre a Clara (post de 03/11).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297680" y="251460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9768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33832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Gravar com o Dr. Ronald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Roteiro dos dois reels (19/10 e 09/11) e gravação no mesmo dia, com a autorização de imagem.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0" y="251460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33832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Produzir e organizar</a:t>
            </a:r>
            <a:endParaRPr lang="en-US" sz="2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500" dirty="0">
                <a:solidFill>
                  <a:schemeClr val="tx1"/>
                </a:solidFill>
              </a:rPr>
              <a:t>Levar o post de 21/10 para o Canva e passar a programação para a planilha do calendário.</a:t>
            </a:r>
            <a:endParaRPr lang="en-US" sz="2000" dirty="0"/>
          </a:p>
        </p:txBody>
      </p:sp>
      <p:pic>
        <p:nvPicPr>
          <p:cNvPr id="12" name="Image 0" descr="Fio contínuo da mar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74920"/>
            <a:ext cx="12191695" cy="1234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irhealth">
  <a:themeElements>
    <a:clrScheme name="fairhealth">
      <a:dk1>
        <a:srgbClr val="1F3A36"/>
      </a:dk1>
      <a:lt1>
        <a:srgbClr val="FFFFFF"/>
      </a:lt1>
      <a:dk2>
        <a:srgbClr val="2F6B64"/>
      </a:dk2>
      <a:lt2>
        <a:srgbClr val="F0F0E9"/>
      </a:lt2>
      <a:accent1>
        <a:srgbClr val="96C5BD"/>
      </a:accent1>
      <a:accent2>
        <a:srgbClr val="BFE0D9"/>
      </a:accent2>
      <a:accent3>
        <a:srgbClr val="0D1816"/>
      </a:accent3>
      <a:accent4>
        <a:srgbClr val="5FA89A"/>
      </a:accent4>
      <a:accent5>
        <a:srgbClr val="1F3A36"/>
      </a:accent5>
      <a:accent6>
        <a:srgbClr val="2F6B64"/>
      </a:accent6>
      <a:hlink>
        <a:srgbClr val="2F6B64"/>
      </a:hlink>
      <a:folHlink>
        <a:srgbClr val="1F3A36"/>
      </a:folHlink>
    </a:clrScheme>
    <a:fontScheme name="fairhealth">
      <a:majorFont>
        <a:latin typeface="Ralew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do Instagram · 19/10 a 13/11</dc:title>
  <dc:subject>PptxGenJS Presentation</dc:subject>
  <dc:creator>fairhealth</dc:creator>
  <cp:lastModifiedBy>fairhealth</cp:lastModifiedBy>
  <cp:revision>1</cp:revision>
  <dcterms:created xsi:type="dcterms:W3CDTF">2026-10-14T21:15:56Z</dcterms:created>
  <dcterms:modified xsi:type="dcterms:W3CDTF">2026-10-14T21:15:56Z</dcterms:modified>
</cp:coreProperties>
</file>